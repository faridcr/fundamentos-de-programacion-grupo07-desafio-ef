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4" r:id="rId25"/>
    <p:sldId id="275" r:id="rId26"/>
    <p:sldId id="276" r:id="rId27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icio" id="{986c1c8b-c85a-5a9d-23fa-23ab0e13df64}">
          <p14:sldIdLst>
            <p14:sldId id="256"/>
          </p14:sldIdLst>
        </p14:section>
        <p14:section name="Introducción" id="{400bf4ad-4a9b-cc7b-ec68-83653753a287}">
          <p14:sldIdLst>
            <p14:sldId id="257"/>
            <p14:sldId id="258"/>
          </p14:sldIdLst>
        </p14:section>
        <p14:section name="Paso 1: Observación" id="{e8125e32-0a67-094a-6412-a799bcd4dad1}">
          <p14:sldIdLst>
            <p14:sldId id="259"/>
            <p14:sldId id="260"/>
          </p14:sldIdLst>
        </p14:section>
        <p14:section name="Paso 2: Requerimientos" id="{e6f96812-cafb-8705-f7bf-a4df78f63097}">
          <p14:sldIdLst>
            <p14:sldId id="261"/>
            <p14:sldId id="262"/>
          </p14:sldIdLst>
        </p14:section>
        <p14:section name="Paso 3: Alternativas" id="{2706fe30-6ad2-22db-9003-6e2f660e221b}">
          <p14:sldIdLst>
            <p14:sldId id="263"/>
            <p14:sldId id="264"/>
          </p14:sldIdLst>
        </p14:section>
        <p14:section name="Paso 4: Diseño del algoritmo" id="{b16dc7e6-4e7f-c0b6-684c-54fe6a18449a}">
          <p14:sldIdLst>
            <p14:sldId id="265"/>
            <p14:sldId id="266"/>
            <p14:sldId id="267"/>
            <p14:sldId id="268"/>
          </p14:sldIdLst>
        </p14:section>
        <p14:section name="Pasos 5 y 6: Git y pruebas" id="{30539efe-a2bd-4051-e4cb-1aace20c61b6}">
          <p14:sldIdLst>
            <p14:sldId id="269"/>
            <p14:sldId id="270"/>
            <p14:sldId id="271"/>
          </p14:sldIdLst>
        </p14:section>
        <p14:section name="Cierre" id="{1a9ced8f-833c-7914-34e5-fb1be9d99af6}">
          <p14:sldIdLst>
            <p14:sldId id="272"/>
            <p14:sldId id="27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Somos el Grupo 07. Nuestro proyecto se llama 'Del archivador al algoritmo'. Partimos de cómo una municipalidad recibe un trámite y lo convertimos en un programa sencillo que registra, valida, busca, ordena y guarda expedientes.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Estos son los seis pasos que pide la práctica de campo. Los vamos a mostrar en este orden: observar, entender, comparar, diseñar, programar con Git y probar.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ley 31170 pide que las entidades tengan mesas de partes digitales. Pero contratar a un programador es difícil, capacitar al personal es caro y tercerizar hace que la oficina pierda el control. Por eso proponemos hacer un prototipo propio, simple y funcional. Las cifras vienen de nuestro README: confirmar la fuente antes de exponer.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Elegimos una solicitud real de limpieza en San Juan de Miraflores. Tiene el número E-038747-2026. La elegimos porque es cercana, porque se puede ver cada paso en las capturas, porque se parece a lo que podemos programar y porque se relaciona con la ley de mesas de partes digitales.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es el recorrido con sus fechas. Se envía el formulario, queda pendiente, el sistema genera el número, se deriva de Gestión Ambiental a Limpieza Pública y queda pendiente de recibir. Somos cuidadosos: afirmamos solo lo que vimos. No vimos que el servicio se haya hecho. Aquí pueden mostrar 1 o 2 capturas, ocultando nombres, DNI y correos.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Ordenamos el problema en tres partes. Entradas: los datos que llegan. Procesos: lo que se hace con esos datos, como revisar, asignar un código, registrar, buscar y ordenar. Salidas: lo que se obtiene, como el código, el estado, el listado y el archivo guardado.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Estos son los problemas que notamos: el doble registro, el mensaje poco claro, la cantidad de áreas y las bandejas llenas. De ahí sale lo que hará nuestro prototipo. No incluimos enviar correos, subir PDF ni derivar entre áreas porque son partes más grandes del sistema real.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Comparamos tres formas de programar y también la opción de tercerizar. Las comparamos por dificultad, costo, control y si se puede hacer en el tiempo del curso. La alternativa A, lista en memoria con archivo de texto, es la más viable.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Elegimos la A porque usa lo que ya sabemos y la podemos explicar línea por línea. La B es más rápida pero no hace falta para una oficina pequeña. La C necesita bases de datos, que todavía no vemos. Y tercerizar nos quita el control y el aprendizaje.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es el diagrama del programa principal. Al empezar, carga los expedientes guardados. Luego muestra el menú, lee la opción y, según lo que se elija, llama a una función: registrar, buscar, ordenar, listar o guardar. Después de cada una vuelve al menú. Con la opción 0 guarda y sale. Es una estructura de control repetitiva con una selección.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Registrar es la parte más importante porque aquí están todas las validaciones. Preguntamos: ¿están completos los campos? ¿el DNI tiene 8 números? ¿el código tiene buen formato? ¿el código no está repetido? Si una respuesta falla, mostramos el error y pedimos los datos otra vez. Si todo está bien, se guarda con estado Pendiente. Este es un diagrama resumido; el completo está en el informe.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Escribimos el pseudocódigo en español, con palabras simples. Aquí se ven dos funciones: una que valida el DNI revisando que tenga 8 caracteres y que todos sean dígitos, y otra que busca la posición de un código en la lista. A la derecha, dónde usamos funciones, listas, cadenas de caracteres y archivos.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Separamos el programa en cuatro archivos, cada uno con una tarea. Así reutilizamos funciones, repartimos el trabajo y probamos cada parte por separado. main.py llama a los otros tres. Abajo, las ideas de matemáticas, ciencia e ingeniería que aplicamos: lógica con Y, O, NO; orden por comparación; búsqueda lineal y ordenamiento por inserción; y modularidad.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Nadie hace commit directo a main. Cada integrante tiene su rama y los cambios llegan a main con un pull request que otro compañero revisa. Si dos personas cambian la misma línea hay un conflicto: se elige qué versión queda, se borran las marcas y se hace otro commit. Aquí pueden mostrar las capturas reales de git log y de los pull requests del repositorio.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IMPORTANTE: antes de exponer, ejecuten el programa con estos casos y llenen la columna 'Resultado obtenido'. Agreguen también capturas del código en Python y de la ejecución. Probamos con datos ficticios y anticipamos errores: si se ordena la fecha como texto, 05/10 quedaría antes que 28/09; si el DNI se guarda como número, pierde el cero inicial; y si el archivo no existe, el programa no debe caerse.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Aprendimos que un programa no empieza con código sino entendiendo qué entra, qué se hace y qué sale. También que Git sirve para trabajar varios sin pisarnos. En lo ético: las capturas tienen datos de personas reales, así que las ocultamos y probamos solo con datos ficticios. Nuestro prototipo no es el sistema oficial y lo decimos con claridad.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Como recomendaciones: probar con datos ficticios, hacer commits pequeños y revisar los pull requests. Si crecieran los datos, usar búsqueda binaria o una base de datos. A la derecha, el conocimiento nuevo que usamos. Revisen que esta lista sea realmente lo que aprendieron por su cuenta y no lo visto en clase.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Para cerrar: seguimos un trámite real, definimos qué datos importan, elegimos una solución que podemos explicar y dejamos el diseño listo para programar y probar. Gracias. ¿Tienen preguntas?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40080" y="1097280"/>
            <a:ext cx="5669280" cy="1554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5029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457200" y="47731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Grupo 07 · Fundamentos de Programación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ER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57200" y="5029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40080" y="1097280"/>
            <a:ext cx="5669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Del archivador al algoritmo</a:t>
            </a:r>
            <a:endParaRPr lang="en-US" sz="4400" dirty="0"/>
          </a:p>
        </p:txBody>
      </p:sp>
      <p:sp>
        <p:nvSpPr>
          <p:cNvPr id="3" name="texto_1"/>
          <p:cNvSpPr txBox="1"/>
          <p:nvPr/>
        </p:nvSpPr>
        <p:spPr>
          <a:xfrm>
            <a:off x="640080" y="269748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Prototipo de Mesa de Partes Digital</a:t>
            </a:r>
            <a:endParaRPr lang="en-US" sz="2200" dirty="0"/>
          </a:p>
        </p:txBody>
      </p:sp>
      <p:sp>
        <p:nvSpPr>
          <p:cNvPr id="4" name="texto_2"/>
          <p:cNvSpPr txBox="1"/>
          <p:nvPr/>
        </p:nvSpPr>
        <p:spPr>
          <a:xfrm>
            <a:off x="640080" y="320040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Fundamentos de Programación (CIIN1205P) · Universidad Privada del Norte</a:t>
            </a:r>
            <a:endParaRPr lang="en-US" sz="1400" dirty="0"/>
          </a:p>
        </p:txBody>
      </p:sp>
      <p:sp>
        <p:nvSpPr>
          <p:cNvPr id="5" name="texto_3"/>
          <p:cNvSpPr txBox="1"/>
          <p:nvPr/>
        </p:nvSpPr>
        <p:spPr>
          <a:xfrm>
            <a:off x="640080" y="3611880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Grupo 07: Cesar Cruz · Josue Mazuelos · Kevin Astete · Andy Acosta · Italo Olivares</a:t>
            </a:r>
            <a:endParaRPr lang="en-US" sz="1400" dirty="0"/>
          </a:p>
        </p:txBody>
      </p:sp>
      <p:sp>
        <p:nvSpPr>
          <p:cNvPr id="6" name="texto_4"/>
          <p:cNvSpPr txBox="1"/>
          <p:nvPr/>
        </p:nvSpPr>
        <p:spPr>
          <a:xfrm>
            <a:off x="640080" y="429768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Docente: Percy Angel Pardo Zapata</a:t>
            </a:r>
            <a:endParaRPr lang="en-US" sz="1400" dirty="0"/>
          </a:p>
        </p:txBody>
      </p:sp>
      <p:sp>
        <p:nvSpPr>
          <p:cNvPr id="7" name="circulo_5"/>
          <p:cNvSpPr/>
          <p:nvPr/>
        </p:nvSpPr>
        <p:spPr>
          <a:xfrm>
            <a:off x="6995160" y="822960"/>
            <a:ext cx="1371600" cy="13716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8" name="icono_6" descr="icono decorativ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33488" y="1161288"/>
            <a:ext cx="694944" cy="694944"/>
          </a:xfrm>
          <a:prstGeom prst="rect">
            <a:avLst/>
          </a:prstGeom>
        </p:spPr>
      </p:pic>
      <p:pic>
        <p:nvPicPr>
          <p:cNvPr id="9" name="icono_7" descr="icono decorativ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0" y="2331720"/>
            <a:ext cx="365760" cy="365760"/>
          </a:xfrm>
          <a:prstGeom prst="rect">
            <a:avLst/>
          </a:prstGeom>
        </p:spPr>
      </p:pic>
      <p:sp>
        <p:nvSpPr>
          <p:cNvPr id="10" name="circulo_8"/>
          <p:cNvSpPr/>
          <p:nvPr/>
        </p:nvSpPr>
        <p:spPr>
          <a:xfrm>
            <a:off x="6995160" y="2926080"/>
            <a:ext cx="1371600" cy="13716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icono_9" descr="icono decorativo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3488" y="3264408"/>
            <a:ext cx="694944" cy="69494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5029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Nuestra ruta en seis pasos</a:t>
            </a:r>
            <a:endParaRPr lang="en-US" sz="3000" dirty="0"/>
          </a:p>
        </p:txBody>
      </p:sp>
      <p:sp>
        <p:nvSpPr>
          <p:cNvPr id="3" name="texto_10"/>
          <p:cNvSpPr txBox="1"/>
          <p:nvPr/>
        </p:nvSpPr>
        <p:spPr>
          <a:xfrm>
            <a:off x="457200" y="2743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3"/>
                </a:solidFill>
              </a:rPr>
              <a:t>LO QUE VAMOS A CONTAR</a:t>
            </a:r>
            <a:endParaRPr lang="en-US" sz="1100" dirty="0"/>
          </a:p>
        </p:txBody>
      </p:sp>
      <p:sp>
        <p:nvSpPr>
          <p:cNvPr id="4" name="tarjeta_11"/>
          <p:cNvSpPr/>
          <p:nvPr/>
        </p:nvSpPr>
        <p:spPr>
          <a:xfrm>
            <a:off x="457200" y="1371600"/>
            <a:ext cx="265176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5" name="circulo_12"/>
          <p:cNvSpPr/>
          <p:nvPr/>
        </p:nvSpPr>
        <p:spPr>
          <a:xfrm>
            <a:off x="640080" y="155448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texto_13"/>
          <p:cNvSpPr txBox="1"/>
          <p:nvPr/>
        </p:nvSpPr>
        <p:spPr>
          <a:xfrm>
            <a:off x="64008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1</a:t>
            </a:r>
            <a:endParaRPr lang="en-US" sz="2000" dirty="0"/>
          </a:p>
        </p:txBody>
      </p:sp>
      <p:sp>
        <p:nvSpPr>
          <p:cNvPr id="7" name="texto_14"/>
          <p:cNvSpPr txBox="1"/>
          <p:nvPr/>
        </p:nvSpPr>
        <p:spPr>
          <a:xfrm>
            <a:off x="1234440" y="155448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Observar</a:t>
            </a:r>
            <a:endParaRPr lang="en-US" sz="1600" dirty="0"/>
          </a:p>
        </p:txBody>
      </p:sp>
      <p:sp>
        <p:nvSpPr>
          <p:cNvPr id="8" name="texto_15"/>
          <p:cNvSpPr txBox="1"/>
          <p:nvPr/>
        </p:nvSpPr>
        <p:spPr>
          <a:xfrm>
            <a:off x="640080" y="214884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Seguimos un trámite real de una municipalidad.</a:t>
            </a:r>
            <a:endParaRPr lang="en-US" sz="1400" dirty="0"/>
          </a:p>
        </p:txBody>
      </p:sp>
      <p:sp>
        <p:nvSpPr>
          <p:cNvPr id="9" name="tarjeta_16"/>
          <p:cNvSpPr/>
          <p:nvPr/>
        </p:nvSpPr>
        <p:spPr>
          <a:xfrm>
            <a:off x="3246120" y="1371600"/>
            <a:ext cx="265176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10" name="circulo_17"/>
          <p:cNvSpPr/>
          <p:nvPr/>
        </p:nvSpPr>
        <p:spPr>
          <a:xfrm>
            <a:off x="3429000" y="155448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1" name="texto_18"/>
          <p:cNvSpPr txBox="1"/>
          <p:nvPr/>
        </p:nvSpPr>
        <p:spPr>
          <a:xfrm>
            <a:off x="342900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2</a:t>
            </a:r>
            <a:endParaRPr lang="en-US" sz="2000" dirty="0"/>
          </a:p>
        </p:txBody>
      </p:sp>
      <p:sp>
        <p:nvSpPr>
          <p:cNvPr id="12" name="texto_19"/>
          <p:cNvSpPr txBox="1"/>
          <p:nvPr/>
        </p:nvSpPr>
        <p:spPr>
          <a:xfrm>
            <a:off x="4023360" y="155448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Entender</a:t>
            </a:r>
            <a:endParaRPr lang="en-US" sz="1600" dirty="0"/>
          </a:p>
        </p:txBody>
      </p:sp>
      <p:sp>
        <p:nvSpPr>
          <p:cNvPr id="13" name="texto_20"/>
          <p:cNvSpPr txBox="1"/>
          <p:nvPr/>
        </p:nvSpPr>
        <p:spPr>
          <a:xfrm>
            <a:off x="3429000" y="214884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Vimos qué datos entran y qué resultados salen.</a:t>
            </a:r>
            <a:endParaRPr lang="en-US" sz="1400" dirty="0"/>
          </a:p>
        </p:txBody>
      </p:sp>
      <p:sp>
        <p:nvSpPr>
          <p:cNvPr id="14" name="tarjeta_21"/>
          <p:cNvSpPr/>
          <p:nvPr/>
        </p:nvSpPr>
        <p:spPr>
          <a:xfrm>
            <a:off x="6035040" y="1371600"/>
            <a:ext cx="265176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15" name="circulo_22"/>
          <p:cNvSpPr/>
          <p:nvPr/>
        </p:nvSpPr>
        <p:spPr>
          <a:xfrm>
            <a:off x="6217920" y="155448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6" name="texto_23"/>
          <p:cNvSpPr txBox="1"/>
          <p:nvPr/>
        </p:nvSpPr>
        <p:spPr>
          <a:xfrm>
            <a:off x="621792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3</a:t>
            </a:r>
            <a:endParaRPr lang="en-US" sz="2000" dirty="0"/>
          </a:p>
        </p:txBody>
      </p:sp>
      <p:sp>
        <p:nvSpPr>
          <p:cNvPr id="17" name="texto_24"/>
          <p:cNvSpPr txBox="1"/>
          <p:nvPr/>
        </p:nvSpPr>
        <p:spPr>
          <a:xfrm>
            <a:off x="6812280" y="155448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Comparar</a:t>
            </a:r>
            <a:endParaRPr lang="en-US" sz="1600" dirty="0"/>
          </a:p>
        </p:txBody>
      </p:sp>
      <p:sp>
        <p:nvSpPr>
          <p:cNvPr id="18" name="texto_25"/>
          <p:cNvSpPr txBox="1"/>
          <p:nvPr/>
        </p:nvSpPr>
        <p:spPr>
          <a:xfrm>
            <a:off x="6217920" y="214884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Pensamos varias formas de resolverlo y elegimos una.</a:t>
            </a:r>
            <a:endParaRPr lang="en-US" sz="1400" dirty="0"/>
          </a:p>
        </p:txBody>
      </p:sp>
      <p:sp>
        <p:nvSpPr>
          <p:cNvPr id="19" name="tarjeta_26"/>
          <p:cNvSpPr/>
          <p:nvPr/>
        </p:nvSpPr>
        <p:spPr>
          <a:xfrm>
            <a:off x="457200" y="3063240"/>
            <a:ext cx="265176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20" name="circulo_27"/>
          <p:cNvSpPr/>
          <p:nvPr/>
        </p:nvSpPr>
        <p:spPr>
          <a:xfrm>
            <a:off x="640080" y="32461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1" name="texto_28"/>
          <p:cNvSpPr txBox="1"/>
          <p:nvPr/>
        </p:nvSpPr>
        <p:spPr>
          <a:xfrm>
            <a:off x="640080" y="3246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4</a:t>
            </a:r>
            <a:endParaRPr lang="en-US" sz="2000" dirty="0"/>
          </a:p>
        </p:txBody>
      </p:sp>
      <p:sp>
        <p:nvSpPr>
          <p:cNvPr id="22" name="texto_29"/>
          <p:cNvSpPr txBox="1"/>
          <p:nvPr/>
        </p:nvSpPr>
        <p:spPr>
          <a:xfrm>
            <a:off x="1234440" y="324612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Diseñar</a:t>
            </a:r>
            <a:endParaRPr lang="en-US" sz="1600" dirty="0"/>
          </a:p>
        </p:txBody>
      </p:sp>
      <p:sp>
        <p:nvSpPr>
          <p:cNvPr id="23" name="texto_30"/>
          <p:cNvSpPr txBox="1"/>
          <p:nvPr/>
        </p:nvSpPr>
        <p:spPr>
          <a:xfrm>
            <a:off x="640080" y="384048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Dibujamos el algoritmo y lo escribimos en pseudocódigo.</a:t>
            </a:r>
            <a:endParaRPr lang="en-US" sz="1400" dirty="0"/>
          </a:p>
        </p:txBody>
      </p:sp>
      <p:sp>
        <p:nvSpPr>
          <p:cNvPr id="24" name="tarjeta_31"/>
          <p:cNvSpPr/>
          <p:nvPr/>
        </p:nvSpPr>
        <p:spPr>
          <a:xfrm>
            <a:off x="3246120" y="3063240"/>
            <a:ext cx="265176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25" name="circulo_32"/>
          <p:cNvSpPr/>
          <p:nvPr/>
        </p:nvSpPr>
        <p:spPr>
          <a:xfrm>
            <a:off x="3429000" y="32461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6" name="texto_33"/>
          <p:cNvSpPr txBox="1"/>
          <p:nvPr/>
        </p:nvSpPr>
        <p:spPr>
          <a:xfrm>
            <a:off x="3429000" y="3246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5</a:t>
            </a:r>
            <a:endParaRPr lang="en-US" sz="2000" dirty="0"/>
          </a:p>
        </p:txBody>
      </p:sp>
      <p:sp>
        <p:nvSpPr>
          <p:cNvPr id="27" name="texto_34"/>
          <p:cNvSpPr txBox="1"/>
          <p:nvPr/>
        </p:nvSpPr>
        <p:spPr>
          <a:xfrm>
            <a:off x="4023360" y="324612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Programar con Git</a:t>
            </a:r>
            <a:endParaRPr lang="en-US" sz="1600" dirty="0"/>
          </a:p>
        </p:txBody>
      </p:sp>
      <p:sp>
        <p:nvSpPr>
          <p:cNvPr id="28" name="texto_35"/>
          <p:cNvSpPr txBox="1"/>
          <p:nvPr/>
        </p:nvSpPr>
        <p:spPr>
          <a:xfrm>
            <a:off x="3429000" y="384048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Cada uno trabaja en su rama y se revisa en equipo.</a:t>
            </a:r>
            <a:endParaRPr lang="en-US" sz="1400" dirty="0"/>
          </a:p>
        </p:txBody>
      </p:sp>
      <p:sp>
        <p:nvSpPr>
          <p:cNvPr id="29" name="tarjeta_36"/>
          <p:cNvSpPr/>
          <p:nvPr/>
        </p:nvSpPr>
        <p:spPr>
          <a:xfrm>
            <a:off x="6035040" y="3063240"/>
            <a:ext cx="265176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30" name="circulo_37"/>
          <p:cNvSpPr/>
          <p:nvPr/>
        </p:nvSpPr>
        <p:spPr>
          <a:xfrm>
            <a:off x="6217920" y="32461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1" name="texto_38"/>
          <p:cNvSpPr txBox="1"/>
          <p:nvPr/>
        </p:nvSpPr>
        <p:spPr>
          <a:xfrm>
            <a:off x="6217920" y="3246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6</a:t>
            </a:r>
            <a:endParaRPr lang="en-US" sz="2000" dirty="0"/>
          </a:p>
        </p:txBody>
      </p:sp>
      <p:sp>
        <p:nvSpPr>
          <p:cNvPr id="32" name="texto_39"/>
          <p:cNvSpPr txBox="1"/>
          <p:nvPr/>
        </p:nvSpPr>
        <p:spPr>
          <a:xfrm>
            <a:off x="6812280" y="324612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Probar y reflexionar</a:t>
            </a:r>
            <a:endParaRPr lang="en-US" sz="1600" dirty="0"/>
          </a:p>
        </p:txBody>
      </p:sp>
      <p:sp>
        <p:nvSpPr>
          <p:cNvPr id="33" name="texto_40"/>
          <p:cNvSpPr txBox="1"/>
          <p:nvPr/>
        </p:nvSpPr>
        <p:spPr>
          <a:xfrm>
            <a:off x="6217920" y="384048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Probamos con datos ficticios y pensamos qué aprendimos.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5029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Por qué una mesa de partes digital</a:t>
            </a:r>
            <a:endParaRPr lang="en-US" sz="3000" dirty="0"/>
          </a:p>
        </p:txBody>
      </p:sp>
      <p:sp>
        <p:nvSpPr>
          <p:cNvPr id="3" name="texto_41"/>
          <p:cNvSpPr txBox="1"/>
          <p:nvPr/>
        </p:nvSpPr>
        <p:spPr>
          <a:xfrm>
            <a:off x="457200" y="2743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3"/>
                </a:solidFill>
              </a:rPr>
              <a:t>CONTEXTO</a:t>
            </a:r>
            <a:endParaRPr lang="en-US" sz="1100" dirty="0"/>
          </a:p>
        </p:txBody>
      </p:sp>
      <p:sp>
        <p:nvSpPr>
          <p:cNvPr id="4" name="tarjeta_42"/>
          <p:cNvSpPr/>
          <p:nvPr/>
        </p:nvSpPr>
        <p:spPr>
          <a:xfrm>
            <a:off x="457200" y="1371600"/>
            <a:ext cx="3200400" cy="3200400"/>
          </a:xfrm>
          <a:prstGeom prst="roundRect">
            <a:avLst>
              <a:gd name="adj" fmla="val 2286"/>
            </a:avLst>
          </a:prstGeom>
          <a:solidFill>
            <a:schemeClr val="tx1"/>
          </a:solidFill>
          <a:ln/>
        </p:spPr>
      </p:sp>
      <p:sp>
        <p:nvSpPr>
          <p:cNvPr id="5" name="texto_43"/>
          <p:cNvSpPr txBox="1"/>
          <p:nvPr/>
        </p:nvSpPr>
        <p:spPr>
          <a:xfrm>
            <a:off x="685800" y="15544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Ley N.° 31170</a:t>
            </a:r>
            <a:endParaRPr lang="en-US" sz="2600" dirty="0"/>
          </a:p>
        </p:txBody>
      </p:sp>
      <p:sp>
        <p:nvSpPr>
          <p:cNvPr id="6" name="texto_44"/>
          <p:cNvSpPr txBox="1"/>
          <p:nvPr/>
        </p:nvSpPr>
        <p:spPr>
          <a:xfrm>
            <a:off x="685800" y="205740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Obliga a las entidades del Estado a tener mesas de partes digitales con notificaciones electrónicas. Aun así, muchas oficinas todavía anotan los trámites a mano.</a:t>
            </a:r>
            <a:endParaRPr lang="en-US" sz="1400" dirty="0"/>
          </a:p>
        </p:txBody>
      </p:sp>
      <p:sp>
        <p:nvSpPr>
          <p:cNvPr id="7" name="tarjeta_45"/>
          <p:cNvSpPr/>
          <p:nvPr/>
        </p:nvSpPr>
        <p:spPr>
          <a:xfrm>
            <a:off x="685800" y="3429000"/>
            <a:ext cx="2743200" cy="914400"/>
          </a:xfrm>
          <a:prstGeom prst="roundRect">
            <a:avLst>
              <a:gd name="adj" fmla="val 8000"/>
            </a:avLst>
          </a:prstGeom>
          <a:solidFill>
            <a:schemeClr val="accent1"/>
          </a:solidFill>
          <a:ln/>
        </p:spPr>
      </p:sp>
      <p:sp>
        <p:nvSpPr>
          <p:cNvPr id="8" name="texto_46"/>
          <p:cNvSpPr txBox="1"/>
          <p:nvPr/>
        </p:nvSpPr>
        <p:spPr>
          <a:xfrm>
            <a:off x="822960" y="347472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Nuestra propuesta: un prototipo propio, simple y funcional</a:t>
            </a:r>
            <a:endParaRPr lang="en-US" sz="1500" dirty="0"/>
          </a:p>
        </p:txBody>
      </p:sp>
      <p:sp>
        <p:nvSpPr>
          <p:cNvPr id="9" name="tarjeta_47"/>
          <p:cNvSpPr/>
          <p:nvPr/>
        </p:nvSpPr>
        <p:spPr>
          <a:xfrm>
            <a:off x="3886200" y="1371600"/>
            <a:ext cx="480060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</p:spPr>
      </p:sp>
      <p:sp>
        <p:nvSpPr>
          <p:cNvPr id="10" name="circulo_48"/>
          <p:cNvSpPr/>
          <p:nvPr/>
        </p:nvSpPr>
        <p:spPr>
          <a:xfrm>
            <a:off x="4069080" y="1600200"/>
            <a:ext cx="548640" cy="548640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11" name="icono_49" descr="icono decorativ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11726" y="1742846"/>
            <a:ext cx="263347" cy="263347"/>
          </a:xfrm>
          <a:prstGeom prst="rect">
            <a:avLst/>
          </a:prstGeom>
        </p:spPr>
      </p:pic>
      <p:sp>
        <p:nvSpPr>
          <p:cNvPr id="12" name="texto_50"/>
          <p:cNvSpPr txBox="1"/>
          <p:nvPr/>
        </p:nvSpPr>
        <p:spPr>
          <a:xfrm>
            <a:off x="4846320" y="14813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Contratar a un programador</a:t>
            </a:r>
            <a:endParaRPr lang="en-US" sz="1600" dirty="0"/>
          </a:p>
        </p:txBody>
      </p:sp>
      <p:sp>
        <p:nvSpPr>
          <p:cNvPr id="13" name="texto_51"/>
          <p:cNvSpPr txBox="1"/>
          <p:nvPr/>
        </p:nvSpPr>
        <p:spPr>
          <a:xfrm>
            <a:off x="4846320" y="178308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El 75 % de las empresas dice que le cuesta cubrir puestos de tecnología (INEI, 2025).</a:t>
            </a:r>
            <a:endParaRPr lang="en-US" sz="1400" dirty="0"/>
          </a:p>
        </p:txBody>
      </p:sp>
      <p:sp>
        <p:nvSpPr>
          <p:cNvPr id="14" name="tarjeta_52"/>
          <p:cNvSpPr/>
          <p:nvPr/>
        </p:nvSpPr>
        <p:spPr>
          <a:xfrm>
            <a:off x="3886200" y="2468880"/>
            <a:ext cx="480060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</p:spPr>
      </p:sp>
      <p:sp>
        <p:nvSpPr>
          <p:cNvPr id="15" name="circulo_53"/>
          <p:cNvSpPr/>
          <p:nvPr/>
        </p:nvSpPr>
        <p:spPr>
          <a:xfrm>
            <a:off x="4069080" y="2697480"/>
            <a:ext cx="548640" cy="548640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16" name="icono_54" descr="icono decorativ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1726" y="2840126"/>
            <a:ext cx="263347" cy="263347"/>
          </a:xfrm>
          <a:prstGeom prst="rect">
            <a:avLst/>
          </a:prstGeom>
        </p:spPr>
      </p:pic>
      <p:sp>
        <p:nvSpPr>
          <p:cNvPr id="17" name="texto_55"/>
          <p:cNvSpPr txBox="1"/>
          <p:nvPr/>
        </p:nvSpPr>
        <p:spPr>
          <a:xfrm>
            <a:off x="4846320" y="25786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Capacitar al personal</a:t>
            </a:r>
            <a:endParaRPr lang="en-US" sz="1600" dirty="0"/>
          </a:p>
        </p:txBody>
      </p:sp>
      <p:sp>
        <p:nvSpPr>
          <p:cNvPr id="18" name="texto_56"/>
          <p:cNvSpPr txBox="1"/>
          <p:nvPr/>
        </p:nvSpPr>
        <p:spPr>
          <a:xfrm>
            <a:off x="4846320" y="288036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Un bootcamp intensivo cuesta cerca de S/ 19,000 por persona.</a:t>
            </a:r>
            <a:endParaRPr lang="en-US" sz="1400" dirty="0"/>
          </a:p>
        </p:txBody>
      </p:sp>
      <p:sp>
        <p:nvSpPr>
          <p:cNvPr id="19" name="tarjeta_57"/>
          <p:cNvSpPr/>
          <p:nvPr/>
        </p:nvSpPr>
        <p:spPr>
          <a:xfrm>
            <a:off x="3886200" y="3566160"/>
            <a:ext cx="480060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</p:spPr>
      </p:sp>
      <p:sp>
        <p:nvSpPr>
          <p:cNvPr id="20" name="circulo_58"/>
          <p:cNvSpPr/>
          <p:nvPr/>
        </p:nvSpPr>
        <p:spPr>
          <a:xfrm>
            <a:off x="4069080" y="3794760"/>
            <a:ext cx="548640" cy="548640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21" name="icono_59" descr="icono decorativo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1726" y="3937406"/>
            <a:ext cx="263347" cy="263347"/>
          </a:xfrm>
          <a:prstGeom prst="rect">
            <a:avLst/>
          </a:prstGeom>
        </p:spPr>
      </p:pic>
      <p:sp>
        <p:nvSpPr>
          <p:cNvPr id="22" name="texto_60"/>
          <p:cNvSpPr txBox="1"/>
          <p:nvPr/>
        </p:nvSpPr>
        <p:spPr>
          <a:xfrm>
            <a:off x="4846320" y="36758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Tercerizar el sistema</a:t>
            </a:r>
            <a:endParaRPr lang="en-US" sz="1600" dirty="0"/>
          </a:p>
        </p:txBody>
      </p:sp>
      <p:sp>
        <p:nvSpPr>
          <p:cNvPr id="23" name="texto_61"/>
          <p:cNvSpPr txBox="1"/>
          <p:nvPr/>
        </p:nvSpPr>
        <p:spPr>
          <a:xfrm>
            <a:off x="4846320" y="397764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La oficina pierde el control del proyecto.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5029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El caso que seguimos</a:t>
            </a:r>
            <a:endParaRPr lang="en-US" sz="3000" dirty="0"/>
          </a:p>
        </p:txBody>
      </p:sp>
      <p:sp>
        <p:nvSpPr>
          <p:cNvPr id="3" name="texto_62"/>
          <p:cNvSpPr txBox="1"/>
          <p:nvPr/>
        </p:nvSpPr>
        <p:spPr>
          <a:xfrm>
            <a:off x="457200" y="2743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3"/>
                </a:solidFill>
              </a:rPr>
              <a:t>PASO 1 · OBSERVAR EL PROCESO REAL</a:t>
            </a:r>
            <a:endParaRPr lang="en-US" sz="1100" dirty="0"/>
          </a:p>
        </p:txBody>
      </p:sp>
      <p:sp>
        <p:nvSpPr>
          <p:cNvPr id="4" name="tarjeta_63"/>
          <p:cNvSpPr/>
          <p:nvPr/>
        </p:nvSpPr>
        <p:spPr>
          <a:xfrm>
            <a:off x="457200" y="1371600"/>
            <a:ext cx="3291840" cy="3200400"/>
          </a:xfrm>
          <a:prstGeom prst="roundRect">
            <a:avLst>
              <a:gd name="adj" fmla="val 2286"/>
            </a:avLst>
          </a:prstGeom>
          <a:solidFill>
            <a:schemeClr val="bg2"/>
          </a:solidFill>
          <a:ln/>
        </p:spPr>
      </p:sp>
      <p:sp>
        <p:nvSpPr>
          <p:cNvPr id="5" name="texto_64"/>
          <p:cNvSpPr txBox="1"/>
          <p:nvPr/>
        </p:nvSpPr>
        <p:spPr>
          <a:xfrm>
            <a:off x="640080" y="155448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3"/>
                </a:solidFill>
              </a:rPr>
              <a:t>E-038747-2026</a:t>
            </a:r>
            <a:endParaRPr lang="en-US" sz="2800" dirty="0"/>
          </a:p>
        </p:txBody>
      </p:sp>
      <p:sp>
        <p:nvSpPr>
          <p:cNvPr id="6" name="texto_65"/>
          <p:cNvSpPr txBox="1"/>
          <p:nvPr/>
        </p:nvSpPr>
        <p:spPr>
          <a:xfrm>
            <a:off x="640080" y="21031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número del expediente que seguimos</a:t>
            </a:r>
            <a:endParaRPr lang="en-US" sz="1400" dirty="0"/>
          </a:p>
        </p:txBody>
      </p:sp>
      <p:sp>
        <p:nvSpPr>
          <p:cNvPr id="7" name="texto_66"/>
          <p:cNvSpPr txBox="1"/>
          <p:nvPr/>
        </p:nvSpPr>
        <p:spPr>
          <a:xfrm>
            <a:off x="640080" y="2606040"/>
            <a:ext cx="2926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Solicitud: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«Limpieza en el distrito de San Juan de Miraflores»</a:t>
            </a:r>
            <a:endParaRPr lang="en-US" sz="1400" dirty="0"/>
          </a:p>
          <a:p>
            <a:pPr indent="0" marL="0">
              <a:buNone/>
            </a:pPr>
            <a:r>
              <a:rPr lang="en-US" sz="600" dirty="0">
                <a:solidFill>
                  <a:schemeClr val="tx1"/>
                </a:solidFill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Dónde: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Mesa de Partes Virtual de la Municipalidad Distrital de San Juan de Miraflores</a:t>
            </a:r>
            <a:endParaRPr lang="en-US" sz="1400" dirty="0"/>
          </a:p>
        </p:txBody>
      </p:sp>
      <p:sp>
        <p:nvSpPr>
          <p:cNvPr id="8" name="tarjeta_67"/>
          <p:cNvSpPr/>
          <p:nvPr/>
        </p:nvSpPr>
        <p:spPr>
          <a:xfrm>
            <a:off x="3977640" y="1371600"/>
            <a:ext cx="228600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9" name="circulo_68"/>
          <p:cNvSpPr/>
          <p:nvPr/>
        </p:nvSpPr>
        <p:spPr>
          <a:xfrm>
            <a:off x="4114800" y="1508760"/>
            <a:ext cx="457200" cy="457200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10" name="icono_69" descr="icono decorativ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33672" y="1627632"/>
            <a:ext cx="219456" cy="219456"/>
          </a:xfrm>
          <a:prstGeom prst="rect">
            <a:avLst/>
          </a:prstGeom>
        </p:spPr>
      </p:pic>
      <p:sp>
        <p:nvSpPr>
          <p:cNvPr id="11" name="texto_70"/>
          <p:cNvSpPr txBox="1"/>
          <p:nvPr/>
        </p:nvSpPr>
        <p:spPr>
          <a:xfrm>
            <a:off x="4663440" y="150876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Real y cercano</a:t>
            </a:r>
            <a:endParaRPr lang="en-US" sz="1400" dirty="0"/>
          </a:p>
        </p:txBody>
      </p:sp>
      <p:sp>
        <p:nvSpPr>
          <p:cNvPr id="12" name="texto_71"/>
          <p:cNvSpPr txBox="1"/>
          <p:nvPr/>
        </p:nvSpPr>
        <p:spPr>
          <a:xfrm>
            <a:off x="4114800" y="205740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Es una municipalidad de Lima y el trámite lo hizo una persona de verdad.</a:t>
            </a:r>
            <a:endParaRPr lang="en-US" sz="1300" dirty="0"/>
          </a:p>
        </p:txBody>
      </p:sp>
      <p:sp>
        <p:nvSpPr>
          <p:cNvPr id="13" name="tarjeta_72"/>
          <p:cNvSpPr/>
          <p:nvPr/>
        </p:nvSpPr>
        <p:spPr>
          <a:xfrm>
            <a:off x="6400800" y="1371600"/>
            <a:ext cx="228600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14" name="circulo_73"/>
          <p:cNvSpPr/>
          <p:nvPr/>
        </p:nvSpPr>
        <p:spPr>
          <a:xfrm>
            <a:off x="6537960" y="1508760"/>
            <a:ext cx="457200" cy="457200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15" name="icono_74" descr="icono decorativ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6832" y="1627632"/>
            <a:ext cx="219456" cy="219456"/>
          </a:xfrm>
          <a:prstGeom prst="rect">
            <a:avLst/>
          </a:prstGeom>
        </p:spPr>
      </p:pic>
      <p:sp>
        <p:nvSpPr>
          <p:cNvPr id="16" name="texto_75"/>
          <p:cNvSpPr txBox="1"/>
          <p:nvPr/>
        </p:nvSpPr>
        <p:spPr>
          <a:xfrm>
            <a:off x="7086600" y="150876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Cada paso se ve</a:t>
            </a:r>
            <a:endParaRPr lang="en-US" sz="1400" dirty="0"/>
          </a:p>
        </p:txBody>
      </p:sp>
      <p:sp>
        <p:nvSpPr>
          <p:cNvPr id="17" name="texto_76"/>
          <p:cNvSpPr txBox="1"/>
          <p:nvPr/>
        </p:nvSpPr>
        <p:spPr>
          <a:xfrm>
            <a:off x="6537960" y="205740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Hay capturas del formulario, las bandejas y la hoja de ruta.</a:t>
            </a:r>
            <a:endParaRPr lang="en-US" sz="1300" dirty="0"/>
          </a:p>
        </p:txBody>
      </p:sp>
      <p:sp>
        <p:nvSpPr>
          <p:cNvPr id="18" name="tarjeta_77"/>
          <p:cNvSpPr/>
          <p:nvPr/>
        </p:nvSpPr>
        <p:spPr>
          <a:xfrm>
            <a:off x="3977640" y="3017520"/>
            <a:ext cx="228600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19" name="circulo_78"/>
          <p:cNvSpPr/>
          <p:nvPr/>
        </p:nvSpPr>
        <p:spPr>
          <a:xfrm>
            <a:off x="4114800" y="3154680"/>
            <a:ext cx="457200" cy="457200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20" name="icono_79" descr="icono decorativo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3672" y="3273552"/>
            <a:ext cx="219456" cy="219456"/>
          </a:xfrm>
          <a:prstGeom prst="rect">
            <a:avLst/>
          </a:prstGeom>
        </p:spPr>
      </p:pic>
      <p:sp>
        <p:nvSpPr>
          <p:cNvPr id="21" name="texto_80"/>
          <p:cNvSpPr txBox="1"/>
          <p:nvPr/>
        </p:nvSpPr>
        <p:spPr>
          <a:xfrm>
            <a:off x="4663440" y="315468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Se puede programar</a:t>
            </a:r>
            <a:endParaRPr lang="en-US" sz="1400" dirty="0"/>
          </a:p>
        </p:txBody>
      </p:sp>
      <p:sp>
        <p:nvSpPr>
          <p:cNvPr id="22" name="texto_81"/>
          <p:cNvSpPr txBox="1"/>
          <p:nvPr/>
        </p:nvSpPr>
        <p:spPr>
          <a:xfrm>
            <a:off x="4114800" y="370332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Hay datos que entran, reglas que revisar, un código y un estado.</a:t>
            </a:r>
            <a:endParaRPr lang="en-US" sz="1300" dirty="0"/>
          </a:p>
        </p:txBody>
      </p:sp>
      <p:sp>
        <p:nvSpPr>
          <p:cNvPr id="23" name="tarjeta_82"/>
          <p:cNvSpPr/>
          <p:nvPr/>
        </p:nvSpPr>
        <p:spPr>
          <a:xfrm>
            <a:off x="6400800" y="3017520"/>
            <a:ext cx="228600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24" name="circulo_83"/>
          <p:cNvSpPr/>
          <p:nvPr/>
        </p:nvSpPr>
        <p:spPr>
          <a:xfrm>
            <a:off x="6537960" y="3154680"/>
            <a:ext cx="457200" cy="457200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25" name="icono_84" descr="icono decorativo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6832" y="3273552"/>
            <a:ext cx="219456" cy="219456"/>
          </a:xfrm>
          <a:prstGeom prst="rect">
            <a:avLst/>
          </a:prstGeom>
        </p:spPr>
      </p:pic>
      <p:sp>
        <p:nvSpPr>
          <p:cNvPr id="26" name="texto_85"/>
          <p:cNvSpPr txBox="1"/>
          <p:nvPr/>
        </p:nvSpPr>
        <p:spPr>
          <a:xfrm>
            <a:off x="7086600" y="315468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Ligado a la ley</a:t>
            </a:r>
            <a:endParaRPr lang="en-US" sz="1400" dirty="0"/>
          </a:p>
        </p:txBody>
      </p:sp>
      <p:sp>
        <p:nvSpPr>
          <p:cNvPr id="27" name="texto_86"/>
          <p:cNvSpPr txBox="1"/>
          <p:nvPr/>
        </p:nvSpPr>
        <p:spPr>
          <a:xfrm>
            <a:off x="6537960" y="370332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Responde a lo que pide la Ley N.° 31170.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5029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Así viajó la solicitud</a:t>
            </a:r>
            <a:endParaRPr lang="en-US" sz="3000" dirty="0"/>
          </a:p>
        </p:txBody>
      </p:sp>
      <p:sp>
        <p:nvSpPr>
          <p:cNvPr id="3" name="texto_87"/>
          <p:cNvSpPr txBox="1"/>
          <p:nvPr/>
        </p:nvSpPr>
        <p:spPr>
          <a:xfrm>
            <a:off x="457200" y="2743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3"/>
                </a:solidFill>
              </a:rPr>
              <a:t>PASO 1 · BITÁCORA DEL RECORRIDO</a:t>
            </a:r>
            <a:endParaRPr lang="en-US" sz="1100" dirty="0"/>
          </a:p>
        </p:txBody>
      </p:sp>
      <p:sp>
        <p:nvSpPr>
          <p:cNvPr id="4" name="linea_88"/>
          <p:cNvSpPr/>
          <p:nvPr/>
        </p:nvSpPr>
        <p:spPr>
          <a:xfrm>
            <a:off x="1280160" y="1737360"/>
            <a:ext cx="6583680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</a:ln>
        </p:spPr>
      </p:sp>
      <p:sp>
        <p:nvSpPr>
          <p:cNvPr id="5" name="circulo_89"/>
          <p:cNvSpPr/>
          <p:nvPr/>
        </p:nvSpPr>
        <p:spPr>
          <a:xfrm>
            <a:off x="1051560" y="1508760"/>
            <a:ext cx="457200" cy="457200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6" name="texto_90"/>
          <p:cNvSpPr txBox="1"/>
          <p:nvPr/>
        </p:nvSpPr>
        <p:spPr>
          <a:xfrm>
            <a:off x="105156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o_91"/>
          <p:cNvSpPr txBox="1"/>
          <p:nvPr/>
        </p:nvSpPr>
        <p:spPr>
          <a:xfrm>
            <a:off x="457200" y="21488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12/10</a:t>
            </a:r>
            <a:endParaRPr lang="en-US" sz="1400" dirty="0"/>
          </a:p>
        </p:txBody>
      </p:sp>
      <p:sp>
        <p:nvSpPr>
          <p:cNvPr id="8" name="texto_92"/>
          <p:cNvSpPr txBox="1"/>
          <p:nvPr/>
        </p:nvSpPr>
        <p:spPr>
          <a:xfrm>
            <a:off x="457200" y="24231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Se envía</a:t>
            </a:r>
            <a:endParaRPr lang="en-US" sz="1600" dirty="0"/>
          </a:p>
        </p:txBody>
      </p:sp>
      <p:sp>
        <p:nvSpPr>
          <p:cNvPr id="9" name="texto_93"/>
          <p:cNvSpPr txBox="1"/>
          <p:nvPr/>
        </p:nvSpPr>
        <p:spPr>
          <a:xfrm>
            <a:off x="548640" y="2788920"/>
            <a:ext cx="1463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Formulario con PDF adjunto</a:t>
            </a:r>
            <a:endParaRPr lang="en-US" sz="1400" dirty="0"/>
          </a:p>
        </p:txBody>
      </p:sp>
      <p:sp>
        <p:nvSpPr>
          <p:cNvPr id="10" name="circulo_94"/>
          <p:cNvSpPr/>
          <p:nvPr/>
        </p:nvSpPr>
        <p:spPr>
          <a:xfrm>
            <a:off x="2697480" y="1508760"/>
            <a:ext cx="457200" cy="457200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11" name="texto_95"/>
          <p:cNvSpPr txBox="1"/>
          <p:nvPr/>
        </p:nvSpPr>
        <p:spPr>
          <a:xfrm>
            <a:off x="269748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texto_96"/>
          <p:cNvSpPr txBox="1"/>
          <p:nvPr/>
        </p:nvSpPr>
        <p:spPr>
          <a:xfrm>
            <a:off x="2103120" y="21488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12/10</a:t>
            </a:r>
            <a:endParaRPr lang="en-US" sz="1400" dirty="0"/>
          </a:p>
        </p:txBody>
      </p:sp>
      <p:sp>
        <p:nvSpPr>
          <p:cNvPr id="13" name="texto_97"/>
          <p:cNvSpPr txBox="1"/>
          <p:nvPr/>
        </p:nvSpPr>
        <p:spPr>
          <a:xfrm>
            <a:off x="2103120" y="24231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Pendiente</a:t>
            </a:r>
            <a:endParaRPr lang="en-US" sz="1600" dirty="0"/>
          </a:p>
        </p:txBody>
      </p:sp>
      <p:sp>
        <p:nvSpPr>
          <p:cNvPr id="14" name="texto_98"/>
          <p:cNvSpPr txBox="1"/>
          <p:nvPr/>
        </p:nvSpPr>
        <p:spPr>
          <a:xfrm>
            <a:off x="2194560" y="2788920"/>
            <a:ext cx="1463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Aparece sin número de expediente</a:t>
            </a:r>
            <a:endParaRPr lang="en-US" sz="1400" dirty="0"/>
          </a:p>
        </p:txBody>
      </p:sp>
      <p:sp>
        <p:nvSpPr>
          <p:cNvPr id="15" name="circulo_99"/>
          <p:cNvSpPr/>
          <p:nvPr/>
        </p:nvSpPr>
        <p:spPr>
          <a:xfrm>
            <a:off x="4343400" y="1508760"/>
            <a:ext cx="457200" cy="457200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16" name="texto_100"/>
          <p:cNvSpPr txBox="1"/>
          <p:nvPr/>
        </p:nvSpPr>
        <p:spPr>
          <a:xfrm>
            <a:off x="434340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7" name="texto_101"/>
          <p:cNvSpPr txBox="1"/>
          <p:nvPr/>
        </p:nvSpPr>
        <p:spPr>
          <a:xfrm>
            <a:off x="3749040" y="21488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12/10</a:t>
            </a:r>
            <a:endParaRPr lang="en-US" sz="1400" dirty="0"/>
          </a:p>
        </p:txBody>
      </p:sp>
      <p:sp>
        <p:nvSpPr>
          <p:cNvPr id="18" name="texto_102"/>
          <p:cNvSpPr txBox="1"/>
          <p:nvPr/>
        </p:nvSpPr>
        <p:spPr>
          <a:xfrm>
            <a:off x="3749040" y="24231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Con número</a:t>
            </a:r>
            <a:endParaRPr lang="en-US" sz="1600" dirty="0"/>
          </a:p>
        </p:txBody>
      </p:sp>
      <p:sp>
        <p:nvSpPr>
          <p:cNvPr id="19" name="texto_103"/>
          <p:cNvSpPr txBox="1"/>
          <p:nvPr/>
        </p:nvSpPr>
        <p:spPr>
          <a:xfrm>
            <a:off x="3840480" y="2788920"/>
            <a:ext cx="1463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El sistema genera el 038747-2026</a:t>
            </a:r>
            <a:endParaRPr lang="en-US" sz="1400" dirty="0"/>
          </a:p>
        </p:txBody>
      </p:sp>
      <p:sp>
        <p:nvSpPr>
          <p:cNvPr id="20" name="circulo_104"/>
          <p:cNvSpPr/>
          <p:nvPr/>
        </p:nvSpPr>
        <p:spPr>
          <a:xfrm>
            <a:off x="5989320" y="1508760"/>
            <a:ext cx="457200" cy="457200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21" name="texto_105"/>
          <p:cNvSpPr txBox="1"/>
          <p:nvPr/>
        </p:nvSpPr>
        <p:spPr>
          <a:xfrm>
            <a:off x="598932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2" name="texto_106"/>
          <p:cNvSpPr txBox="1"/>
          <p:nvPr/>
        </p:nvSpPr>
        <p:spPr>
          <a:xfrm>
            <a:off x="5394960" y="21488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12/10</a:t>
            </a:r>
            <a:endParaRPr lang="en-US" sz="1400" dirty="0"/>
          </a:p>
        </p:txBody>
      </p:sp>
      <p:sp>
        <p:nvSpPr>
          <p:cNvPr id="23" name="texto_107"/>
          <p:cNvSpPr txBox="1"/>
          <p:nvPr/>
        </p:nvSpPr>
        <p:spPr>
          <a:xfrm>
            <a:off x="5394960" y="24231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Se deriva</a:t>
            </a:r>
            <a:endParaRPr lang="en-US" sz="1600" dirty="0"/>
          </a:p>
        </p:txBody>
      </p:sp>
      <p:sp>
        <p:nvSpPr>
          <p:cNvPr id="24" name="texto_108"/>
          <p:cNvSpPr txBox="1"/>
          <p:nvPr/>
        </p:nvSpPr>
        <p:spPr>
          <a:xfrm>
            <a:off x="5486400" y="2788920"/>
            <a:ext cx="1463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De Gestión Ambiental a Limpieza Pública</a:t>
            </a:r>
            <a:endParaRPr lang="en-US" sz="1400" dirty="0"/>
          </a:p>
        </p:txBody>
      </p:sp>
      <p:sp>
        <p:nvSpPr>
          <p:cNvPr id="25" name="circulo_109"/>
          <p:cNvSpPr/>
          <p:nvPr/>
        </p:nvSpPr>
        <p:spPr>
          <a:xfrm>
            <a:off x="7635240" y="1508760"/>
            <a:ext cx="457200" cy="45720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26" name="texto_110"/>
          <p:cNvSpPr txBox="1"/>
          <p:nvPr/>
        </p:nvSpPr>
        <p:spPr>
          <a:xfrm>
            <a:off x="763524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27" name="texto_111"/>
          <p:cNvSpPr txBox="1"/>
          <p:nvPr/>
        </p:nvSpPr>
        <p:spPr>
          <a:xfrm>
            <a:off x="7040880" y="21488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13/10</a:t>
            </a:r>
            <a:endParaRPr lang="en-US" sz="1400" dirty="0"/>
          </a:p>
        </p:txBody>
      </p:sp>
      <p:sp>
        <p:nvSpPr>
          <p:cNvPr id="28" name="texto_112"/>
          <p:cNvSpPr txBox="1"/>
          <p:nvPr/>
        </p:nvSpPr>
        <p:spPr>
          <a:xfrm>
            <a:off x="7040880" y="24231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Por recibir</a:t>
            </a:r>
            <a:endParaRPr lang="en-US" sz="1600" dirty="0"/>
          </a:p>
        </p:txBody>
      </p:sp>
      <p:sp>
        <p:nvSpPr>
          <p:cNvPr id="29" name="texto_113"/>
          <p:cNvSpPr txBox="1"/>
          <p:nvPr/>
        </p:nvSpPr>
        <p:spPr>
          <a:xfrm>
            <a:off x="7132320" y="2788920"/>
            <a:ext cx="1463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Queda pendiente en Limpieza Pública</a:t>
            </a:r>
            <a:endParaRPr lang="en-US" sz="1400" dirty="0"/>
          </a:p>
        </p:txBody>
      </p:sp>
      <p:sp>
        <p:nvSpPr>
          <p:cNvPr id="30" name="tarjeta_114"/>
          <p:cNvSpPr/>
          <p:nvPr/>
        </p:nvSpPr>
        <p:spPr>
          <a:xfrm>
            <a:off x="457200" y="3794760"/>
            <a:ext cx="4023360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/>
        </p:spPr>
      </p:sp>
      <p:sp>
        <p:nvSpPr>
          <p:cNvPr id="31" name="texto_115"/>
          <p:cNvSpPr txBox="1"/>
          <p:nvPr/>
        </p:nvSpPr>
        <p:spPr>
          <a:xfrm>
            <a:off x="640080" y="384048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Sí vimos: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se envió, recibió número y fue derivada.</a:t>
            </a:r>
            <a:endParaRPr lang="en-US" sz="1400" dirty="0"/>
          </a:p>
        </p:txBody>
      </p:sp>
      <p:sp>
        <p:nvSpPr>
          <p:cNvPr id="32" name="tarjeta_116"/>
          <p:cNvSpPr/>
          <p:nvPr/>
        </p:nvSpPr>
        <p:spPr>
          <a:xfrm>
            <a:off x="4663440" y="3794760"/>
            <a:ext cx="4023360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/>
        </p:spPr>
      </p:sp>
      <p:sp>
        <p:nvSpPr>
          <p:cNvPr id="33" name="texto_117"/>
          <p:cNvSpPr txBox="1"/>
          <p:nvPr/>
        </p:nvSpPr>
        <p:spPr>
          <a:xfrm>
            <a:off x="4846320" y="384048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No vimos: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que el servicio de limpieza se haya hecho.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5029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Qué entra, qué se hace y qué sale</a:t>
            </a:r>
            <a:endParaRPr lang="en-US" sz="3000" dirty="0"/>
          </a:p>
        </p:txBody>
      </p:sp>
      <p:sp>
        <p:nvSpPr>
          <p:cNvPr id="3" name="texto_118"/>
          <p:cNvSpPr txBox="1"/>
          <p:nvPr/>
        </p:nvSpPr>
        <p:spPr>
          <a:xfrm>
            <a:off x="457200" y="2743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3"/>
                </a:solidFill>
              </a:rPr>
              <a:t>PASO 2 · LEVANTAR REQUERIMIENTOS</a:t>
            </a:r>
            <a:endParaRPr lang="en-US" sz="1100" dirty="0"/>
          </a:p>
        </p:txBody>
      </p:sp>
      <p:sp>
        <p:nvSpPr>
          <p:cNvPr id="4" name="tarjeta_119"/>
          <p:cNvSpPr/>
          <p:nvPr/>
        </p:nvSpPr>
        <p:spPr>
          <a:xfrm>
            <a:off x="457200" y="1371600"/>
            <a:ext cx="2514600" cy="3200400"/>
          </a:xfrm>
          <a:prstGeom prst="roundRect">
            <a:avLst>
              <a:gd name="adj" fmla="val 2909"/>
            </a:avLst>
          </a:prstGeom>
          <a:solidFill>
            <a:schemeClr val="bg2"/>
          </a:solidFill>
          <a:ln/>
        </p:spPr>
      </p:sp>
      <p:sp>
        <p:nvSpPr>
          <p:cNvPr id="5" name="circulo_120"/>
          <p:cNvSpPr/>
          <p:nvPr/>
        </p:nvSpPr>
        <p:spPr>
          <a:xfrm>
            <a:off x="640080" y="1554480"/>
            <a:ext cx="502920" cy="502920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6" name="icono_121" descr="icono decorativ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0839" y="1685239"/>
            <a:ext cx="241402" cy="241402"/>
          </a:xfrm>
          <a:prstGeom prst="rect">
            <a:avLst/>
          </a:prstGeom>
        </p:spPr>
      </p:pic>
      <p:sp>
        <p:nvSpPr>
          <p:cNvPr id="7" name="texto_122"/>
          <p:cNvSpPr txBox="1"/>
          <p:nvPr/>
        </p:nvSpPr>
        <p:spPr>
          <a:xfrm>
            <a:off x="1280160" y="155448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Entradas</a:t>
            </a:r>
            <a:endParaRPr lang="en-US" sz="2000" dirty="0"/>
          </a:p>
        </p:txBody>
      </p:sp>
      <p:sp>
        <p:nvSpPr>
          <p:cNvPr id="8" name="texto_123"/>
          <p:cNvSpPr txBox="1"/>
          <p:nvPr/>
        </p:nvSpPr>
        <p:spPr>
          <a:xfrm>
            <a:off x="640080" y="2286000"/>
            <a:ext cx="21945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Datos de la persona: nombre, DNI, correo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Asunto y tipo de documento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Documento adjunto en PDF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Fecha de recepción</a:t>
            </a:r>
            <a:endParaRPr lang="en-US" sz="1400" dirty="0"/>
          </a:p>
        </p:txBody>
      </p:sp>
      <p:pic>
        <p:nvPicPr>
          <p:cNvPr id="9" name="icono_124" descr="icono decorativ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6090" y="2788920"/>
            <a:ext cx="274320" cy="274320"/>
          </a:xfrm>
          <a:prstGeom prst="rect">
            <a:avLst/>
          </a:prstGeom>
        </p:spPr>
      </p:pic>
      <p:sp>
        <p:nvSpPr>
          <p:cNvPr id="10" name="tarjeta_125"/>
          <p:cNvSpPr/>
          <p:nvPr/>
        </p:nvSpPr>
        <p:spPr>
          <a:xfrm>
            <a:off x="3314700" y="1371600"/>
            <a:ext cx="2514600" cy="3200400"/>
          </a:xfrm>
          <a:prstGeom prst="roundRect">
            <a:avLst>
              <a:gd name="adj" fmla="val 2909"/>
            </a:avLst>
          </a:prstGeom>
          <a:solidFill>
            <a:schemeClr val="bg2"/>
          </a:solidFill>
          <a:ln/>
        </p:spPr>
      </p:sp>
      <p:sp>
        <p:nvSpPr>
          <p:cNvPr id="11" name="circulo_126"/>
          <p:cNvSpPr/>
          <p:nvPr/>
        </p:nvSpPr>
        <p:spPr>
          <a:xfrm>
            <a:off x="3497580" y="155448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2" name="icono_127" descr="icono decorativo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28339" y="1685239"/>
            <a:ext cx="241402" cy="241402"/>
          </a:xfrm>
          <a:prstGeom prst="rect">
            <a:avLst/>
          </a:prstGeom>
        </p:spPr>
      </p:pic>
      <p:sp>
        <p:nvSpPr>
          <p:cNvPr id="13" name="texto_128"/>
          <p:cNvSpPr txBox="1"/>
          <p:nvPr/>
        </p:nvSpPr>
        <p:spPr>
          <a:xfrm>
            <a:off x="4137660" y="155448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Procesos</a:t>
            </a:r>
            <a:endParaRPr lang="en-US" sz="2000" dirty="0"/>
          </a:p>
        </p:txBody>
      </p:sp>
      <p:sp>
        <p:nvSpPr>
          <p:cNvPr id="14" name="texto_129"/>
          <p:cNvSpPr txBox="1"/>
          <p:nvPr/>
        </p:nvSpPr>
        <p:spPr>
          <a:xfrm>
            <a:off x="3497580" y="2286000"/>
            <a:ext cx="21945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Revisar que esté completo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Ver que el DNI tenga 8 números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Asignar un código único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Dejar el estado en «Pendiente»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Buscar y ordenar</a:t>
            </a:r>
            <a:endParaRPr lang="en-US" sz="1400" dirty="0"/>
          </a:p>
        </p:txBody>
      </p:sp>
      <p:pic>
        <p:nvPicPr>
          <p:cNvPr id="15" name="icono_130" descr="icono decorativo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3590" y="2788920"/>
            <a:ext cx="274320" cy="274320"/>
          </a:xfrm>
          <a:prstGeom prst="rect">
            <a:avLst/>
          </a:prstGeom>
        </p:spPr>
      </p:pic>
      <p:sp>
        <p:nvSpPr>
          <p:cNvPr id="16" name="tarjeta_131"/>
          <p:cNvSpPr/>
          <p:nvPr/>
        </p:nvSpPr>
        <p:spPr>
          <a:xfrm>
            <a:off x="6172200" y="1371600"/>
            <a:ext cx="2514600" cy="3200400"/>
          </a:xfrm>
          <a:prstGeom prst="roundRect">
            <a:avLst>
              <a:gd name="adj" fmla="val 2909"/>
            </a:avLst>
          </a:prstGeom>
          <a:solidFill>
            <a:schemeClr val="bg2"/>
          </a:solidFill>
          <a:ln/>
        </p:spPr>
      </p:sp>
      <p:sp>
        <p:nvSpPr>
          <p:cNvPr id="17" name="circulo_132"/>
          <p:cNvSpPr/>
          <p:nvPr/>
        </p:nvSpPr>
        <p:spPr>
          <a:xfrm>
            <a:off x="6355080" y="1554480"/>
            <a:ext cx="502920" cy="502920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18" name="icono_133" descr="icono decorativo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85839" y="1685239"/>
            <a:ext cx="241402" cy="241402"/>
          </a:xfrm>
          <a:prstGeom prst="rect">
            <a:avLst/>
          </a:prstGeom>
        </p:spPr>
      </p:pic>
      <p:sp>
        <p:nvSpPr>
          <p:cNvPr id="19" name="texto_134"/>
          <p:cNvSpPr txBox="1"/>
          <p:nvPr/>
        </p:nvSpPr>
        <p:spPr>
          <a:xfrm>
            <a:off x="6995160" y="155448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Salidas</a:t>
            </a:r>
            <a:endParaRPr lang="en-US" sz="2000" dirty="0"/>
          </a:p>
        </p:txBody>
      </p:sp>
      <p:sp>
        <p:nvSpPr>
          <p:cNvPr id="20" name="texto_135"/>
          <p:cNvSpPr txBox="1"/>
          <p:nvPr/>
        </p:nvSpPr>
        <p:spPr>
          <a:xfrm>
            <a:off x="6355080" y="2286000"/>
            <a:ext cx="21945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Código de expediente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Estado del trámite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Listado ordenado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Resultado de una búsqueda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Archivo con los registros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5029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Lo que notamos y lo que haremos</a:t>
            </a:r>
            <a:endParaRPr lang="en-US" sz="3000" dirty="0"/>
          </a:p>
        </p:txBody>
      </p:sp>
      <p:sp>
        <p:nvSpPr>
          <p:cNvPr id="3" name="texto_136"/>
          <p:cNvSpPr txBox="1"/>
          <p:nvPr/>
        </p:nvSpPr>
        <p:spPr>
          <a:xfrm>
            <a:off x="457200" y="2743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3"/>
                </a:solidFill>
              </a:rPr>
              <a:t>PASO 2 · PROBLEMAS Y REQUERIMIENTOS</a:t>
            </a:r>
            <a:endParaRPr lang="en-US" sz="1100" dirty="0"/>
          </a:p>
        </p:txBody>
      </p:sp>
      <p:sp>
        <p:nvSpPr>
          <p:cNvPr id="4" name="tarjeta_137"/>
          <p:cNvSpPr/>
          <p:nvPr/>
        </p:nvSpPr>
        <p:spPr>
          <a:xfrm>
            <a:off x="457200" y="1371600"/>
            <a:ext cx="3931920" cy="2697480"/>
          </a:xfrm>
          <a:prstGeom prst="roundRect">
            <a:avLst>
              <a:gd name="adj" fmla="val 2712"/>
            </a:avLst>
          </a:prstGeom>
          <a:solidFill>
            <a:schemeClr val="bg2"/>
          </a:solidFill>
          <a:ln/>
        </p:spPr>
      </p:sp>
      <p:sp>
        <p:nvSpPr>
          <p:cNvPr id="5" name="texto_138"/>
          <p:cNvSpPr txBox="1"/>
          <p:nvPr/>
        </p:nvSpPr>
        <p:spPr>
          <a:xfrm>
            <a:off x="685800" y="15087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Lo que notamos</a:t>
            </a:r>
            <a:endParaRPr lang="en-US" sz="1800" dirty="0"/>
          </a:p>
        </p:txBody>
      </p:sp>
      <p:sp>
        <p:nvSpPr>
          <p:cNvPr id="6" name="texto_139"/>
          <p:cNvSpPr txBox="1"/>
          <p:nvPr/>
        </p:nvSpPr>
        <p:spPr>
          <a:xfrm>
            <a:off x="685800" y="1965960"/>
            <a:ext cx="35204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Doble registro: está en el sistema y también en papel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El mensaje de éxito no dice si ya se atendió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Pasa por varias áreas y cuesta saber dónde está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Una bandeja tenía 390 pendientes: buscar a mano toma tiempo</a:t>
            </a:r>
            <a:endParaRPr lang="en-US" sz="1400" dirty="0"/>
          </a:p>
        </p:txBody>
      </p:sp>
      <p:sp>
        <p:nvSpPr>
          <p:cNvPr id="7" name="tarjeta_140"/>
          <p:cNvSpPr/>
          <p:nvPr/>
        </p:nvSpPr>
        <p:spPr>
          <a:xfrm>
            <a:off x="4754880" y="1371600"/>
            <a:ext cx="3931920" cy="2697480"/>
          </a:xfrm>
          <a:prstGeom prst="roundRect">
            <a:avLst>
              <a:gd name="adj" fmla="val 2712"/>
            </a:avLst>
          </a:prstGeom>
          <a:solidFill>
            <a:schemeClr val="bg2"/>
          </a:solidFill>
          <a:ln/>
        </p:spPr>
      </p:sp>
      <p:sp>
        <p:nvSpPr>
          <p:cNvPr id="8" name="texto_141"/>
          <p:cNvSpPr txBox="1"/>
          <p:nvPr/>
        </p:nvSpPr>
        <p:spPr>
          <a:xfrm>
            <a:off x="4983480" y="15087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Lo que hará el prototipo</a:t>
            </a:r>
            <a:endParaRPr lang="en-US" sz="1800" dirty="0"/>
          </a:p>
        </p:txBody>
      </p:sp>
      <p:sp>
        <p:nvSpPr>
          <p:cNvPr id="9" name="texto_142"/>
          <p:cNvSpPr txBox="1"/>
          <p:nvPr/>
        </p:nvSpPr>
        <p:spPr>
          <a:xfrm>
            <a:off x="4983480" y="1965960"/>
            <a:ext cx="35204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Registrar expedientes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Validar los datos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Buscar por código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Ordenar por código o fecha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Guardar y cargar desde un archivo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Listar todos los expedientes</a:t>
            </a:r>
            <a:endParaRPr lang="en-US" sz="1400" dirty="0"/>
          </a:p>
        </p:txBody>
      </p:sp>
      <p:pic>
        <p:nvPicPr>
          <p:cNvPr id="10" name="icono_143" descr="icono decorativ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62272" y="2560320"/>
            <a:ext cx="219456" cy="219456"/>
          </a:xfrm>
          <a:prstGeom prst="rect">
            <a:avLst/>
          </a:prstGeom>
        </p:spPr>
      </p:pic>
      <p:sp>
        <p:nvSpPr>
          <p:cNvPr id="11" name="tarjeta_144"/>
          <p:cNvSpPr/>
          <p:nvPr/>
        </p:nvSpPr>
        <p:spPr>
          <a:xfrm>
            <a:off x="457200" y="4206240"/>
            <a:ext cx="8229600" cy="411480"/>
          </a:xfrm>
          <a:prstGeom prst="roundRect">
            <a:avLst>
              <a:gd name="adj" fmla="val 17778"/>
            </a:avLst>
          </a:prstGeom>
          <a:solidFill>
            <a:schemeClr val="bg2"/>
          </a:solidFill>
          <a:ln/>
        </p:spPr>
      </p:sp>
      <p:sp>
        <p:nvSpPr>
          <p:cNvPr id="12" name="texto_145"/>
          <p:cNvSpPr txBox="1"/>
          <p:nvPr/>
        </p:nvSpPr>
        <p:spPr>
          <a:xfrm>
            <a:off x="640080" y="420624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tx2"/>
                </a:solidFill>
              </a:rPr>
              <a:t>Por ahora no incluye: enviar correos, subir PDF ni derivar entre áreas.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5029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Comparamos las opciones</a:t>
            </a:r>
            <a:endParaRPr lang="en-US" sz="3000" dirty="0"/>
          </a:p>
        </p:txBody>
      </p:sp>
      <p:sp>
        <p:nvSpPr>
          <p:cNvPr id="3" name="texto_146"/>
          <p:cNvSpPr txBox="1"/>
          <p:nvPr/>
        </p:nvSpPr>
        <p:spPr>
          <a:xfrm>
            <a:off x="457200" y="2743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3"/>
                </a:solidFill>
              </a:rPr>
              <a:t>PASO 3 · ANALIZAR ALTERNATIVAS</a:t>
            </a:r>
            <a:endParaRPr lang="en-US" sz="11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737360"/>
                <a:gridCol w="2011680"/>
                <a:gridCol w="1554480"/>
                <a:gridCol w="1554480"/>
              </a:tblGrid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A. Lista + archivo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B. Lista ordenada + búsqueda binaria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C. Base de datos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Tercerizar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Qué es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Lista en memoria y archivo de texto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Lista siempre ordenada; se busca partiendo a la mitad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Datos guardados en SQLite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Pagar a otra empresa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Dificultad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Baja: usa lo visto en clase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Media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Alta: aún no la vemos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No aplica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Costo y control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Ninguno y control total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Ninguno y control total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Ninguno y control total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Alto y se pierde el control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Viable en el curso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2"/>
                          </a:solidFill>
                        </a:rPr>
                        <a:t>Sí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Más o menos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Difícil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Depende de otros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o_147"/>
          <p:cNvSpPr txBox="1"/>
          <p:nvPr/>
        </p:nvSpPr>
        <p:spPr>
          <a:xfrm>
            <a:off x="457200" y="4160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Elegimos la alternativa A porque es la que podemos hacer, entender y explicar bien.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5029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Elegimos la alternativa A</a:t>
            </a:r>
            <a:endParaRPr lang="en-US" sz="3000" dirty="0"/>
          </a:p>
        </p:txBody>
      </p:sp>
      <p:sp>
        <p:nvSpPr>
          <p:cNvPr id="3" name="texto_148"/>
          <p:cNvSpPr txBox="1"/>
          <p:nvPr/>
        </p:nvSpPr>
        <p:spPr>
          <a:xfrm>
            <a:off x="457200" y="2743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3"/>
                </a:solidFill>
              </a:rPr>
              <a:t>PASO 3 · SOLUCIÓN ELEGIDA</a:t>
            </a:r>
            <a:endParaRPr lang="en-US" sz="1100" dirty="0"/>
          </a:p>
        </p:txBody>
      </p:sp>
      <p:sp>
        <p:nvSpPr>
          <p:cNvPr id="4" name="circulo_149"/>
          <p:cNvSpPr/>
          <p:nvPr/>
        </p:nvSpPr>
        <p:spPr>
          <a:xfrm>
            <a:off x="457200" y="137160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texto_150"/>
          <p:cNvSpPr txBox="1"/>
          <p:nvPr/>
        </p:nvSpPr>
        <p:spPr>
          <a:xfrm>
            <a:off x="457200" y="13716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4000" dirty="0"/>
          </a:p>
        </p:txBody>
      </p:sp>
      <p:sp>
        <p:nvSpPr>
          <p:cNvPr id="6" name="texto_151"/>
          <p:cNvSpPr txBox="1"/>
          <p:nvPr/>
        </p:nvSpPr>
        <p:spPr>
          <a:xfrm>
            <a:off x="1600200" y="137160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Lista en memoria y archivo de texto</a:t>
            </a:r>
            <a:endParaRPr lang="en-US" sz="2000" dirty="0"/>
          </a:p>
        </p:txBody>
      </p:sp>
      <p:pic>
        <p:nvPicPr>
          <p:cNvPr id="7" name="icono_152" descr="icono decorativ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606040"/>
            <a:ext cx="320040" cy="320040"/>
          </a:xfrm>
          <a:prstGeom prst="rect">
            <a:avLst/>
          </a:prstGeom>
        </p:spPr>
      </p:pic>
      <p:sp>
        <p:nvSpPr>
          <p:cNvPr id="8" name="texto_153"/>
          <p:cNvSpPr txBox="1"/>
          <p:nvPr/>
        </p:nvSpPr>
        <p:spPr>
          <a:xfrm>
            <a:off x="960120" y="2560320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Usa lo que ya sabemos: listas, ciclos, funciones, cadenas y archivos</a:t>
            </a:r>
            <a:endParaRPr lang="en-US" sz="1500" dirty="0"/>
          </a:p>
        </p:txBody>
      </p:sp>
      <p:pic>
        <p:nvPicPr>
          <p:cNvPr id="9" name="icono_154" descr="icono decorativ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91840"/>
            <a:ext cx="320040" cy="320040"/>
          </a:xfrm>
          <a:prstGeom prst="rect">
            <a:avLst/>
          </a:prstGeom>
        </p:spPr>
      </p:pic>
      <p:sp>
        <p:nvSpPr>
          <p:cNvPr id="10" name="texto_155"/>
          <p:cNvSpPr txBox="1"/>
          <p:nvPr/>
        </p:nvSpPr>
        <p:spPr>
          <a:xfrm>
            <a:off x="960120" y="3246120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Podemos explicar cada línea del código</a:t>
            </a:r>
            <a:endParaRPr lang="en-US" sz="1500" dirty="0"/>
          </a:p>
        </p:txBody>
      </p:sp>
      <p:pic>
        <p:nvPicPr>
          <p:cNvPr id="11" name="icono_156" descr="icono decorativo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977640"/>
            <a:ext cx="320040" cy="320040"/>
          </a:xfrm>
          <a:prstGeom prst="rect">
            <a:avLst/>
          </a:prstGeom>
        </p:spPr>
      </p:pic>
      <p:sp>
        <p:nvSpPr>
          <p:cNvPr id="12" name="texto_157"/>
          <p:cNvSpPr txBox="1"/>
          <p:nvPr/>
        </p:nvSpPr>
        <p:spPr>
          <a:xfrm>
            <a:off x="960120" y="3931920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No cuesta nada y tenemos el control total</a:t>
            </a:r>
            <a:endParaRPr lang="en-US" sz="1500" dirty="0"/>
          </a:p>
        </p:txBody>
      </p:sp>
      <p:sp>
        <p:nvSpPr>
          <p:cNvPr id="13" name="tarjeta_158"/>
          <p:cNvSpPr/>
          <p:nvPr/>
        </p:nvSpPr>
        <p:spPr>
          <a:xfrm>
            <a:off x="5303520" y="1371600"/>
            <a:ext cx="3383280" cy="3200400"/>
          </a:xfrm>
          <a:prstGeom prst="roundRect">
            <a:avLst>
              <a:gd name="adj" fmla="val 2286"/>
            </a:avLst>
          </a:prstGeom>
          <a:solidFill>
            <a:schemeClr val="bg2"/>
          </a:solidFill>
          <a:ln/>
        </p:spPr>
      </p:sp>
      <p:sp>
        <p:nvSpPr>
          <p:cNvPr id="14" name="texto_159"/>
          <p:cNvSpPr txBox="1"/>
          <p:nvPr/>
        </p:nvSpPr>
        <p:spPr>
          <a:xfrm>
            <a:off x="5486400" y="15087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Por qué no las otras</a:t>
            </a:r>
            <a:endParaRPr lang="en-US" sz="1800" dirty="0"/>
          </a:p>
        </p:txBody>
      </p:sp>
      <p:sp>
        <p:nvSpPr>
          <p:cNvPr id="15" name="texto_160"/>
          <p:cNvSpPr txBox="1"/>
          <p:nvPr/>
        </p:nvSpPr>
        <p:spPr>
          <a:xfrm>
            <a:off x="5486400" y="1965960"/>
            <a:ext cx="301752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B.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Es más rápida con muchos datos, pero una oficina pequeña no la necesita.</a:t>
            </a:r>
            <a:endParaRPr lang="en-US" sz="1400" dirty="0"/>
          </a:p>
          <a:p>
            <a:pPr indent="0" marL="0">
              <a:buNone/>
            </a:pPr>
            <a:r>
              <a:rPr lang="en-US" sz="500" dirty="0">
                <a:solidFill>
                  <a:schemeClr val="tx1"/>
                </a:solidFill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C.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Es potente, pero aún no vemos bases de datos.</a:t>
            </a:r>
            <a:endParaRPr lang="en-US" sz="1400" dirty="0"/>
          </a:p>
          <a:p>
            <a:pPr indent="0" marL="0">
              <a:buNone/>
            </a:pPr>
            <a:r>
              <a:rPr lang="en-US" sz="500" dirty="0">
                <a:solidFill>
                  <a:schemeClr val="tx1"/>
                </a:solidFill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Tercerizar.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Perdemos el control y no aprendemos.</a:t>
            </a:r>
            <a:endParaRPr lang="en-US" sz="1400" dirty="0"/>
          </a:p>
          <a:p>
            <a:pPr indent="0" marL="0">
              <a:buNone/>
            </a:pPr>
            <a:r>
              <a:rPr lang="en-US" sz="500" dirty="0">
                <a:solidFill>
                  <a:schemeClr val="tx1"/>
                </a:solidFill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chemeClr val="tx2"/>
                </a:solidFill>
              </a:rPr>
              <a:t>Si el programa crece, solo cambiamos el módulo de búsqueda.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5029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El programa principal es un menú que se repite</a:t>
            </a:r>
            <a:endParaRPr lang="en-US" sz="3000" dirty="0"/>
          </a:p>
        </p:txBody>
      </p:sp>
      <p:sp>
        <p:nvSpPr>
          <p:cNvPr id="3" name="texto_161"/>
          <p:cNvSpPr txBox="1"/>
          <p:nvPr/>
        </p:nvSpPr>
        <p:spPr>
          <a:xfrm>
            <a:off x="457200" y="2743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3"/>
                </a:solidFill>
              </a:rPr>
              <a:t>PASO 4 · DIAGRAMA DE FLUJO</a:t>
            </a:r>
            <a:endParaRPr lang="en-US" sz="1100" dirty="0"/>
          </a:p>
        </p:txBody>
      </p:sp>
      <p:sp>
        <p:nvSpPr>
          <p:cNvPr id="4" name="diagrama_162"/>
          <p:cNvSpPr/>
          <p:nvPr/>
        </p:nvSpPr>
        <p:spPr>
          <a:xfrm>
            <a:off x="457200" y="1531620"/>
            <a:ext cx="914400" cy="502920"/>
          </a:xfrm>
          <a:prstGeom prst="flowChartTerminator">
            <a:avLst/>
          </a:prstGeom>
          <a:solidFill>
            <a:schemeClr val="accent2"/>
          </a:solidFill>
          <a:ln w="15875">
            <a:solidFill>
              <a:schemeClr val="tx1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INICIO</a:t>
            </a:r>
            <a:endParaRPr lang="en-US" sz="1300" dirty="0"/>
          </a:p>
        </p:txBody>
      </p:sp>
      <p:sp>
        <p:nvSpPr>
          <p:cNvPr id="5" name="diagrama_163"/>
          <p:cNvSpPr/>
          <p:nvPr/>
        </p:nvSpPr>
        <p:spPr>
          <a:xfrm>
            <a:off x="1645920" y="1463040"/>
            <a:ext cx="1737360" cy="640080"/>
          </a:xfrm>
          <a:prstGeom prst="flowChartInputOutput">
            <a:avLst/>
          </a:prstGeom>
          <a:solidFill>
            <a:schemeClr val="bg2"/>
          </a:solidFill>
          <a:ln w="15875">
            <a:solidFill>
              <a:schemeClr val="tx1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Cargar expedientes del archivo</a:t>
            </a:r>
            <a:endParaRPr lang="en-US" sz="1300" dirty="0"/>
          </a:p>
        </p:txBody>
      </p:sp>
      <p:sp>
        <p:nvSpPr>
          <p:cNvPr id="6" name="diagrama_164"/>
          <p:cNvSpPr/>
          <p:nvPr/>
        </p:nvSpPr>
        <p:spPr>
          <a:xfrm>
            <a:off x="3657600" y="1531620"/>
            <a:ext cx="1371600" cy="502920"/>
          </a:xfrm>
          <a:prstGeom prst="flowChartProcess">
            <a:avLst/>
          </a:prstGeom>
          <a:solidFill>
            <a:schemeClr val="bg2"/>
          </a:solidFill>
          <a:ln w="15875">
            <a:solidFill>
              <a:schemeClr val="tx1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Mostrar el menú</a:t>
            </a:r>
            <a:endParaRPr lang="en-US" sz="1300" dirty="0"/>
          </a:p>
        </p:txBody>
      </p:sp>
      <p:sp>
        <p:nvSpPr>
          <p:cNvPr id="7" name="diagrama_165"/>
          <p:cNvSpPr/>
          <p:nvPr/>
        </p:nvSpPr>
        <p:spPr>
          <a:xfrm>
            <a:off x="5303520" y="1531620"/>
            <a:ext cx="1463040" cy="502920"/>
          </a:xfrm>
          <a:prstGeom prst="flowChartInputOutput">
            <a:avLst/>
          </a:prstGeom>
          <a:solidFill>
            <a:schemeClr val="bg2"/>
          </a:solidFill>
          <a:ln w="15875">
            <a:solidFill>
              <a:schemeClr val="tx1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Leer la opción</a:t>
            </a:r>
            <a:endParaRPr lang="en-US" sz="1300" dirty="0"/>
          </a:p>
        </p:txBody>
      </p:sp>
      <p:sp>
        <p:nvSpPr>
          <p:cNvPr id="8" name="diagrama_166"/>
          <p:cNvSpPr/>
          <p:nvPr/>
        </p:nvSpPr>
        <p:spPr>
          <a:xfrm>
            <a:off x="7040880" y="1234440"/>
            <a:ext cx="1645920" cy="1097280"/>
          </a:xfrm>
          <a:prstGeom prst="flowChartDecision">
            <a:avLst/>
          </a:prstGeom>
          <a:solidFill>
            <a:schemeClr val="accent1"/>
          </a:solidFill>
          <a:ln w="15875">
            <a:solidFill>
              <a:schemeClr val="tx1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¿Qué opción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eligió?</a:t>
            </a:r>
            <a:endParaRPr lang="en-US" sz="1300" dirty="0"/>
          </a:p>
        </p:txBody>
      </p:sp>
      <p:sp>
        <p:nvSpPr>
          <p:cNvPr id="9" name="linea_167"/>
          <p:cNvSpPr/>
          <p:nvPr/>
        </p:nvSpPr>
        <p:spPr>
          <a:xfrm>
            <a:off x="1371600" y="1783080"/>
            <a:ext cx="274320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10" name="linea_168"/>
          <p:cNvSpPr/>
          <p:nvPr/>
        </p:nvSpPr>
        <p:spPr>
          <a:xfrm>
            <a:off x="3383280" y="1783080"/>
            <a:ext cx="274320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11" name="linea_169"/>
          <p:cNvSpPr/>
          <p:nvPr/>
        </p:nvSpPr>
        <p:spPr>
          <a:xfrm>
            <a:off x="5029200" y="1783080"/>
            <a:ext cx="274320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12" name="linea_170"/>
          <p:cNvSpPr/>
          <p:nvPr/>
        </p:nvSpPr>
        <p:spPr>
          <a:xfrm>
            <a:off x="6766560" y="1783080"/>
            <a:ext cx="274320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13" name="linea_171"/>
          <p:cNvSpPr/>
          <p:nvPr/>
        </p:nvSpPr>
        <p:spPr>
          <a:xfrm>
            <a:off x="7863840" y="2331720"/>
            <a:ext cx="0" cy="36576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</a:ln>
        </p:spPr>
      </p:sp>
      <p:sp>
        <p:nvSpPr>
          <p:cNvPr id="14" name="linea_172"/>
          <p:cNvSpPr/>
          <p:nvPr/>
        </p:nvSpPr>
        <p:spPr>
          <a:xfrm>
            <a:off x="1097280" y="2697480"/>
            <a:ext cx="6949440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</a:ln>
        </p:spPr>
      </p:sp>
      <p:sp>
        <p:nvSpPr>
          <p:cNvPr id="15" name="linea_173"/>
          <p:cNvSpPr/>
          <p:nvPr/>
        </p:nvSpPr>
        <p:spPr>
          <a:xfrm>
            <a:off x="1097280" y="2697480"/>
            <a:ext cx="0" cy="32004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16" name="diagrama_174"/>
          <p:cNvSpPr/>
          <p:nvPr/>
        </p:nvSpPr>
        <p:spPr>
          <a:xfrm>
            <a:off x="457200" y="3017520"/>
            <a:ext cx="1280160" cy="868680"/>
          </a:xfrm>
          <a:prstGeom prst="flowChartProcess">
            <a:avLst/>
          </a:prstGeom>
          <a:solidFill>
            <a:schemeClr val="bg2"/>
          </a:solidFill>
          <a:ln w="15875">
            <a:solidFill>
              <a:schemeClr val="tx1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1. Registrar expediente</a:t>
            </a:r>
            <a:endParaRPr lang="en-US" sz="1300" dirty="0"/>
          </a:p>
        </p:txBody>
      </p:sp>
      <p:sp>
        <p:nvSpPr>
          <p:cNvPr id="17" name="linea_175"/>
          <p:cNvSpPr/>
          <p:nvPr/>
        </p:nvSpPr>
        <p:spPr>
          <a:xfrm>
            <a:off x="2487168" y="2697480"/>
            <a:ext cx="0" cy="32004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18" name="diagrama_176"/>
          <p:cNvSpPr/>
          <p:nvPr/>
        </p:nvSpPr>
        <p:spPr>
          <a:xfrm>
            <a:off x="1847088" y="3017520"/>
            <a:ext cx="1280160" cy="868680"/>
          </a:xfrm>
          <a:prstGeom prst="flowChartProcess">
            <a:avLst/>
          </a:prstGeom>
          <a:solidFill>
            <a:schemeClr val="bg2"/>
          </a:solidFill>
          <a:ln w="15875">
            <a:solidFill>
              <a:schemeClr val="tx1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2. Buscar por código</a:t>
            </a:r>
            <a:endParaRPr lang="en-US" sz="1300" dirty="0"/>
          </a:p>
        </p:txBody>
      </p:sp>
      <p:sp>
        <p:nvSpPr>
          <p:cNvPr id="19" name="linea_177"/>
          <p:cNvSpPr/>
          <p:nvPr/>
        </p:nvSpPr>
        <p:spPr>
          <a:xfrm>
            <a:off x="3877056" y="2697480"/>
            <a:ext cx="0" cy="32004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20" name="diagrama_178"/>
          <p:cNvSpPr/>
          <p:nvPr/>
        </p:nvSpPr>
        <p:spPr>
          <a:xfrm>
            <a:off x="3236976" y="3017520"/>
            <a:ext cx="1280160" cy="868680"/>
          </a:xfrm>
          <a:prstGeom prst="flowChartProcess">
            <a:avLst/>
          </a:prstGeom>
          <a:solidFill>
            <a:schemeClr val="bg2"/>
          </a:solidFill>
          <a:ln w="15875">
            <a:solidFill>
              <a:schemeClr val="tx1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3. Ordenar por código o fecha</a:t>
            </a:r>
            <a:endParaRPr lang="en-US" sz="1300" dirty="0"/>
          </a:p>
        </p:txBody>
      </p:sp>
      <p:sp>
        <p:nvSpPr>
          <p:cNvPr id="21" name="linea_179"/>
          <p:cNvSpPr/>
          <p:nvPr/>
        </p:nvSpPr>
        <p:spPr>
          <a:xfrm>
            <a:off x="5266944" y="2697480"/>
            <a:ext cx="0" cy="32004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22" name="diagrama_180"/>
          <p:cNvSpPr/>
          <p:nvPr/>
        </p:nvSpPr>
        <p:spPr>
          <a:xfrm>
            <a:off x="4626864" y="3017520"/>
            <a:ext cx="1280160" cy="868680"/>
          </a:xfrm>
          <a:prstGeom prst="flowChartProcess">
            <a:avLst/>
          </a:prstGeom>
          <a:solidFill>
            <a:schemeClr val="bg2"/>
          </a:solidFill>
          <a:ln w="15875">
            <a:solidFill>
              <a:schemeClr val="tx1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4. Listar expedientes</a:t>
            </a:r>
            <a:endParaRPr lang="en-US" sz="1300" dirty="0"/>
          </a:p>
        </p:txBody>
      </p:sp>
      <p:sp>
        <p:nvSpPr>
          <p:cNvPr id="23" name="linea_181"/>
          <p:cNvSpPr/>
          <p:nvPr/>
        </p:nvSpPr>
        <p:spPr>
          <a:xfrm>
            <a:off x="6656832" y="2697480"/>
            <a:ext cx="0" cy="32004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24" name="diagrama_182"/>
          <p:cNvSpPr/>
          <p:nvPr/>
        </p:nvSpPr>
        <p:spPr>
          <a:xfrm>
            <a:off x="6016752" y="3017520"/>
            <a:ext cx="1280160" cy="868680"/>
          </a:xfrm>
          <a:prstGeom prst="flowChartProcess">
            <a:avLst/>
          </a:prstGeom>
          <a:solidFill>
            <a:schemeClr val="bg2"/>
          </a:solidFill>
          <a:ln w="15875">
            <a:solidFill>
              <a:schemeClr val="tx1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5. Guardar en archivo</a:t>
            </a:r>
            <a:endParaRPr lang="en-US" sz="1300" dirty="0"/>
          </a:p>
        </p:txBody>
      </p:sp>
      <p:sp>
        <p:nvSpPr>
          <p:cNvPr id="25" name="linea_183"/>
          <p:cNvSpPr/>
          <p:nvPr/>
        </p:nvSpPr>
        <p:spPr>
          <a:xfrm>
            <a:off x="8046720" y="2697480"/>
            <a:ext cx="0" cy="32004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26" name="diagrama_184"/>
          <p:cNvSpPr/>
          <p:nvPr/>
        </p:nvSpPr>
        <p:spPr>
          <a:xfrm>
            <a:off x="7406640" y="3017520"/>
            <a:ext cx="1280160" cy="868680"/>
          </a:xfrm>
          <a:prstGeom prst="flowChartTerminator">
            <a:avLst/>
          </a:prstGeom>
          <a:solidFill>
            <a:schemeClr val="accent2"/>
          </a:solidFill>
          <a:ln w="15875">
            <a:solidFill>
              <a:schemeClr val="tx1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0. Guardar y salir</a:t>
            </a:r>
            <a:endParaRPr lang="en-US" sz="1300" dirty="0"/>
          </a:p>
        </p:txBody>
      </p:sp>
      <p:sp>
        <p:nvSpPr>
          <p:cNvPr id="27" name="tarjeta_185"/>
          <p:cNvSpPr/>
          <p:nvPr/>
        </p:nvSpPr>
        <p:spPr>
          <a:xfrm>
            <a:off x="457200" y="4114800"/>
            <a:ext cx="8229600" cy="4572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/>
        </p:spPr>
      </p:sp>
      <p:pic>
        <p:nvPicPr>
          <p:cNvPr id="28" name="icono_186" descr="icono decorativ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4206240"/>
            <a:ext cx="274320" cy="274320"/>
          </a:xfrm>
          <a:prstGeom prst="rect">
            <a:avLst/>
          </a:prstGeom>
        </p:spPr>
      </p:pic>
      <p:sp>
        <p:nvSpPr>
          <p:cNvPr id="29" name="texto_187"/>
          <p:cNvSpPr txBox="1"/>
          <p:nvPr/>
        </p:nvSpPr>
        <p:spPr>
          <a:xfrm>
            <a:off x="1051560" y="41148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Cada opción termina y vuelve al menú. Con otra opción, avisa «Opción no válida».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5029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Registrar: validar antes de guardar</a:t>
            </a:r>
            <a:endParaRPr lang="en-US" sz="3000" dirty="0"/>
          </a:p>
        </p:txBody>
      </p:sp>
      <p:sp>
        <p:nvSpPr>
          <p:cNvPr id="3" name="texto_188"/>
          <p:cNvSpPr txBox="1"/>
          <p:nvPr/>
        </p:nvSpPr>
        <p:spPr>
          <a:xfrm>
            <a:off x="457200" y="2743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3"/>
                </a:solidFill>
              </a:rPr>
              <a:t>PASO 4 · DIAGRAMA DE FLUJO</a:t>
            </a:r>
            <a:endParaRPr lang="en-US" sz="1100" dirty="0"/>
          </a:p>
        </p:txBody>
      </p:sp>
      <p:sp>
        <p:nvSpPr>
          <p:cNvPr id="4" name="diagrama_189"/>
          <p:cNvSpPr/>
          <p:nvPr/>
        </p:nvSpPr>
        <p:spPr>
          <a:xfrm>
            <a:off x="457200" y="1874520"/>
            <a:ext cx="914400" cy="548640"/>
          </a:xfrm>
          <a:prstGeom prst="flowChartInputOutput">
            <a:avLst/>
          </a:prstGeom>
          <a:solidFill>
            <a:schemeClr val="bg2"/>
          </a:solidFill>
          <a:ln w="15875">
            <a:solidFill>
              <a:schemeClr val="tx1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endParaRPr lang="en-US" sz="1300" dirty="0"/>
          </a:p>
        </p:txBody>
      </p:sp>
      <p:sp>
        <p:nvSpPr>
          <p:cNvPr id="5" name="texto_190"/>
          <p:cNvSpPr txBox="1"/>
          <p:nvPr/>
        </p:nvSpPr>
        <p:spPr>
          <a:xfrm>
            <a:off x="548640" y="187452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Pedir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datos</a:t>
            </a:r>
            <a:endParaRPr lang="en-US" sz="1100" dirty="0"/>
          </a:p>
        </p:txBody>
      </p:sp>
      <p:sp>
        <p:nvSpPr>
          <p:cNvPr id="6" name="diagrama_191"/>
          <p:cNvSpPr/>
          <p:nvPr/>
        </p:nvSpPr>
        <p:spPr>
          <a:xfrm>
            <a:off x="1600200" y="1554480"/>
            <a:ext cx="1280160" cy="1188720"/>
          </a:xfrm>
          <a:prstGeom prst="flowChartDecision">
            <a:avLst/>
          </a:prstGeom>
          <a:solidFill>
            <a:schemeClr val="accent1"/>
          </a:solidFill>
          <a:ln w="15875">
            <a:solidFill>
              <a:schemeClr val="tx1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endParaRPr lang="en-US" sz="1300" dirty="0"/>
          </a:p>
        </p:txBody>
      </p:sp>
      <p:sp>
        <p:nvSpPr>
          <p:cNvPr id="7" name="texto_192"/>
          <p:cNvSpPr txBox="1"/>
          <p:nvPr/>
        </p:nvSpPr>
        <p:spPr>
          <a:xfrm>
            <a:off x="1691640" y="187452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¿Campos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completos?</a:t>
            </a:r>
            <a:endParaRPr lang="en-US" sz="1100" dirty="0"/>
          </a:p>
        </p:txBody>
      </p:sp>
      <p:sp>
        <p:nvSpPr>
          <p:cNvPr id="8" name="diagrama_193"/>
          <p:cNvSpPr/>
          <p:nvPr/>
        </p:nvSpPr>
        <p:spPr>
          <a:xfrm>
            <a:off x="3108960" y="1554480"/>
            <a:ext cx="1280160" cy="1188720"/>
          </a:xfrm>
          <a:prstGeom prst="flowChartDecision">
            <a:avLst/>
          </a:prstGeom>
          <a:solidFill>
            <a:schemeClr val="accent1"/>
          </a:solidFill>
          <a:ln w="15875">
            <a:solidFill>
              <a:schemeClr val="tx1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endParaRPr lang="en-US" sz="1300" dirty="0"/>
          </a:p>
        </p:txBody>
      </p:sp>
      <p:sp>
        <p:nvSpPr>
          <p:cNvPr id="9" name="texto_194"/>
          <p:cNvSpPr txBox="1"/>
          <p:nvPr/>
        </p:nvSpPr>
        <p:spPr>
          <a:xfrm>
            <a:off x="3200400" y="187452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¿DNI de 8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números?</a:t>
            </a:r>
            <a:endParaRPr lang="en-US" sz="1100" dirty="0"/>
          </a:p>
        </p:txBody>
      </p:sp>
      <p:sp>
        <p:nvSpPr>
          <p:cNvPr id="10" name="diagrama_195"/>
          <p:cNvSpPr/>
          <p:nvPr/>
        </p:nvSpPr>
        <p:spPr>
          <a:xfrm>
            <a:off x="4617720" y="1554480"/>
            <a:ext cx="1280160" cy="1188720"/>
          </a:xfrm>
          <a:prstGeom prst="flowChartDecision">
            <a:avLst/>
          </a:prstGeom>
          <a:solidFill>
            <a:schemeClr val="accent1"/>
          </a:solidFill>
          <a:ln w="15875">
            <a:solidFill>
              <a:schemeClr val="tx1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endParaRPr lang="en-US" sz="1300" dirty="0"/>
          </a:p>
        </p:txBody>
      </p:sp>
      <p:sp>
        <p:nvSpPr>
          <p:cNvPr id="11" name="texto_196"/>
          <p:cNvSpPr txBox="1"/>
          <p:nvPr/>
        </p:nvSpPr>
        <p:spPr>
          <a:xfrm>
            <a:off x="4709160" y="187452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¿Código con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buen formato?</a:t>
            </a:r>
            <a:endParaRPr lang="en-US" sz="1100" dirty="0"/>
          </a:p>
        </p:txBody>
      </p:sp>
      <p:sp>
        <p:nvSpPr>
          <p:cNvPr id="12" name="diagrama_197"/>
          <p:cNvSpPr/>
          <p:nvPr/>
        </p:nvSpPr>
        <p:spPr>
          <a:xfrm>
            <a:off x="6126480" y="1554480"/>
            <a:ext cx="1280160" cy="1188720"/>
          </a:xfrm>
          <a:prstGeom prst="flowChartDecision">
            <a:avLst/>
          </a:prstGeom>
          <a:solidFill>
            <a:schemeClr val="accent1"/>
          </a:solidFill>
          <a:ln w="15875">
            <a:solidFill>
              <a:schemeClr val="tx1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endParaRPr lang="en-US" sz="1300" dirty="0"/>
          </a:p>
        </p:txBody>
      </p:sp>
      <p:sp>
        <p:nvSpPr>
          <p:cNvPr id="13" name="texto_198"/>
          <p:cNvSpPr txBox="1"/>
          <p:nvPr/>
        </p:nvSpPr>
        <p:spPr>
          <a:xfrm>
            <a:off x="6217920" y="187452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¿Código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no repetido?</a:t>
            </a:r>
            <a:endParaRPr lang="en-US" sz="1100" dirty="0"/>
          </a:p>
        </p:txBody>
      </p:sp>
      <p:sp>
        <p:nvSpPr>
          <p:cNvPr id="14" name="diagrama_199"/>
          <p:cNvSpPr/>
          <p:nvPr/>
        </p:nvSpPr>
        <p:spPr>
          <a:xfrm>
            <a:off x="7635240" y="1691640"/>
            <a:ext cx="1051560" cy="914400"/>
          </a:xfrm>
          <a:prstGeom prst="flowChartProcess">
            <a:avLst/>
          </a:prstGeom>
          <a:solidFill>
            <a:schemeClr val="accent2"/>
          </a:solidFill>
          <a:ln w="15875">
            <a:solidFill>
              <a:schemeClr val="tx1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Guardar con estado «Pendiente»</a:t>
            </a:r>
            <a:endParaRPr lang="en-US" sz="1300" dirty="0"/>
          </a:p>
        </p:txBody>
      </p:sp>
      <p:sp>
        <p:nvSpPr>
          <p:cNvPr id="15" name="linea_200"/>
          <p:cNvSpPr/>
          <p:nvPr/>
        </p:nvSpPr>
        <p:spPr>
          <a:xfrm>
            <a:off x="1371600" y="2148840"/>
            <a:ext cx="228600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16" name="linea_201"/>
          <p:cNvSpPr/>
          <p:nvPr/>
        </p:nvSpPr>
        <p:spPr>
          <a:xfrm>
            <a:off x="2880360" y="2148840"/>
            <a:ext cx="228600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17" name="linea_202"/>
          <p:cNvSpPr/>
          <p:nvPr/>
        </p:nvSpPr>
        <p:spPr>
          <a:xfrm>
            <a:off x="4389120" y="2148840"/>
            <a:ext cx="228600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18" name="linea_203"/>
          <p:cNvSpPr/>
          <p:nvPr/>
        </p:nvSpPr>
        <p:spPr>
          <a:xfrm>
            <a:off x="5897880" y="2148840"/>
            <a:ext cx="228600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19" name="linea_204"/>
          <p:cNvSpPr/>
          <p:nvPr/>
        </p:nvSpPr>
        <p:spPr>
          <a:xfrm>
            <a:off x="7406640" y="2148840"/>
            <a:ext cx="228600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20" name="texto_205"/>
          <p:cNvSpPr txBox="1"/>
          <p:nvPr/>
        </p:nvSpPr>
        <p:spPr>
          <a:xfrm>
            <a:off x="2807208" y="1856232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SÍ</a:t>
            </a:r>
            <a:endParaRPr lang="en-US" sz="1100" dirty="0"/>
          </a:p>
        </p:txBody>
      </p:sp>
      <p:sp>
        <p:nvSpPr>
          <p:cNvPr id="21" name="texto_206"/>
          <p:cNvSpPr txBox="1"/>
          <p:nvPr/>
        </p:nvSpPr>
        <p:spPr>
          <a:xfrm>
            <a:off x="4315968" y="1856232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SÍ</a:t>
            </a:r>
            <a:endParaRPr lang="en-US" sz="1100" dirty="0"/>
          </a:p>
        </p:txBody>
      </p:sp>
      <p:sp>
        <p:nvSpPr>
          <p:cNvPr id="22" name="texto_207"/>
          <p:cNvSpPr txBox="1"/>
          <p:nvPr/>
        </p:nvSpPr>
        <p:spPr>
          <a:xfrm>
            <a:off x="5824728" y="1856232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SÍ</a:t>
            </a:r>
            <a:endParaRPr lang="en-US" sz="1100" dirty="0"/>
          </a:p>
        </p:txBody>
      </p:sp>
      <p:sp>
        <p:nvSpPr>
          <p:cNvPr id="23" name="texto_208"/>
          <p:cNvSpPr txBox="1"/>
          <p:nvPr/>
        </p:nvSpPr>
        <p:spPr>
          <a:xfrm>
            <a:off x="7333488" y="1856232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SÍ</a:t>
            </a:r>
            <a:endParaRPr lang="en-US" sz="1100" dirty="0"/>
          </a:p>
        </p:txBody>
      </p:sp>
      <p:sp>
        <p:nvSpPr>
          <p:cNvPr id="24" name="linea_209"/>
          <p:cNvSpPr/>
          <p:nvPr/>
        </p:nvSpPr>
        <p:spPr>
          <a:xfrm>
            <a:off x="2240280" y="2743200"/>
            <a:ext cx="0" cy="502920"/>
          </a:xfrm>
          <a:prstGeom prst="line">
            <a:avLst/>
          </a:prstGeom>
          <a:noFill/>
          <a:ln w="1905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25" name="texto_210"/>
          <p:cNvSpPr txBox="1"/>
          <p:nvPr/>
        </p:nvSpPr>
        <p:spPr>
          <a:xfrm>
            <a:off x="2304288" y="292608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3"/>
                </a:solidFill>
              </a:rPr>
              <a:t>NO</a:t>
            </a:r>
            <a:endParaRPr lang="en-US" sz="1100" dirty="0"/>
          </a:p>
        </p:txBody>
      </p:sp>
      <p:sp>
        <p:nvSpPr>
          <p:cNvPr id="26" name="linea_211"/>
          <p:cNvSpPr/>
          <p:nvPr/>
        </p:nvSpPr>
        <p:spPr>
          <a:xfrm>
            <a:off x="3749040" y="2743200"/>
            <a:ext cx="0" cy="502920"/>
          </a:xfrm>
          <a:prstGeom prst="line">
            <a:avLst/>
          </a:prstGeom>
          <a:noFill/>
          <a:ln w="1905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27" name="texto_212"/>
          <p:cNvSpPr txBox="1"/>
          <p:nvPr/>
        </p:nvSpPr>
        <p:spPr>
          <a:xfrm>
            <a:off x="3813048" y="292608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3"/>
                </a:solidFill>
              </a:rPr>
              <a:t>NO</a:t>
            </a:r>
            <a:endParaRPr lang="en-US" sz="1100" dirty="0"/>
          </a:p>
        </p:txBody>
      </p:sp>
      <p:sp>
        <p:nvSpPr>
          <p:cNvPr id="28" name="linea_213"/>
          <p:cNvSpPr/>
          <p:nvPr/>
        </p:nvSpPr>
        <p:spPr>
          <a:xfrm>
            <a:off x="5257800" y="2743200"/>
            <a:ext cx="0" cy="502920"/>
          </a:xfrm>
          <a:prstGeom prst="line">
            <a:avLst/>
          </a:prstGeom>
          <a:noFill/>
          <a:ln w="1905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29" name="texto_214"/>
          <p:cNvSpPr txBox="1"/>
          <p:nvPr/>
        </p:nvSpPr>
        <p:spPr>
          <a:xfrm>
            <a:off x="5321808" y="292608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3"/>
                </a:solidFill>
              </a:rPr>
              <a:t>NO</a:t>
            </a:r>
            <a:endParaRPr lang="en-US" sz="1100" dirty="0"/>
          </a:p>
        </p:txBody>
      </p:sp>
      <p:sp>
        <p:nvSpPr>
          <p:cNvPr id="30" name="linea_215"/>
          <p:cNvSpPr/>
          <p:nvPr/>
        </p:nvSpPr>
        <p:spPr>
          <a:xfrm>
            <a:off x="6766560" y="2743200"/>
            <a:ext cx="0" cy="502920"/>
          </a:xfrm>
          <a:prstGeom prst="line">
            <a:avLst/>
          </a:prstGeom>
          <a:noFill/>
          <a:ln w="1905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31" name="texto_216"/>
          <p:cNvSpPr txBox="1"/>
          <p:nvPr/>
        </p:nvSpPr>
        <p:spPr>
          <a:xfrm>
            <a:off x="6830568" y="292608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3"/>
                </a:solidFill>
              </a:rPr>
              <a:t>NO</a:t>
            </a:r>
            <a:endParaRPr lang="en-US" sz="1100" dirty="0"/>
          </a:p>
        </p:txBody>
      </p:sp>
      <p:sp>
        <p:nvSpPr>
          <p:cNvPr id="32" name="diagrama_217"/>
          <p:cNvSpPr/>
          <p:nvPr/>
        </p:nvSpPr>
        <p:spPr>
          <a:xfrm>
            <a:off x="1600200" y="3246120"/>
            <a:ext cx="5806440" cy="502920"/>
          </a:xfrm>
          <a:prstGeom prst="flowChartProcess">
            <a:avLst/>
          </a:prstGeom>
          <a:solidFill>
            <a:schemeClr val="bg2"/>
          </a:solidFill>
          <a:ln w="15875">
            <a:solidFill>
              <a:schemeClr val="tx1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Mostrar el error y volver a pedir los datos</a:t>
            </a:r>
            <a:endParaRPr lang="en-US" sz="1300" dirty="0"/>
          </a:p>
        </p:txBody>
      </p:sp>
      <p:sp>
        <p:nvSpPr>
          <p:cNvPr id="33" name="linea_218"/>
          <p:cNvSpPr/>
          <p:nvPr/>
        </p:nvSpPr>
        <p:spPr>
          <a:xfrm flipH="1">
            <a:off x="914400" y="3493008"/>
            <a:ext cx="685800" cy="0"/>
          </a:xfrm>
          <a:prstGeom prst="line">
            <a:avLst/>
          </a:prstGeom>
          <a:noFill/>
          <a:ln w="19050">
            <a:solidFill>
              <a:schemeClr val="accent3"/>
            </a:solidFill>
            <a:prstDash val="solid"/>
          </a:ln>
        </p:spPr>
      </p:sp>
      <p:sp>
        <p:nvSpPr>
          <p:cNvPr id="34" name="linea_219"/>
          <p:cNvSpPr/>
          <p:nvPr/>
        </p:nvSpPr>
        <p:spPr>
          <a:xfrm flipV="1">
            <a:off x="914400" y="2423160"/>
            <a:ext cx="0" cy="1069848"/>
          </a:xfrm>
          <a:prstGeom prst="line">
            <a:avLst/>
          </a:prstGeom>
          <a:noFill/>
          <a:ln w="1905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35" name="texto_220"/>
          <p:cNvSpPr txBox="1"/>
          <p:nvPr/>
        </p:nvSpPr>
        <p:spPr>
          <a:xfrm>
            <a:off x="457200" y="4023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Si todas las respuestas son SÍ, se agrega a la lista y se muestra «Registro exitoso».</a:t>
            </a:r>
            <a:endParaRPr lang="en-US" sz="1500" dirty="0"/>
          </a:p>
        </p:txBody>
      </p:sp>
      <p:sp>
        <p:nvSpPr>
          <p:cNvPr id="36" name="texto_221"/>
          <p:cNvSpPr txBox="1"/>
          <p:nvPr/>
        </p:nvSpPr>
        <p:spPr>
          <a:xfrm>
            <a:off x="457200" y="4343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El código tiene el formato E-######-AAAA y no puede repetirse, igual que el número de expediente del caso real.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5029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Pseudocódigo y lo que usamos</a:t>
            </a:r>
            <a:endParaRPr lang="en-US" sz="3000" dirty="0"/>
          </a:p>
        </p:txBody>
      </p:sp>
      <p:sp>
        <p:nvSpPr>
          <p:cNvPr id="3" name="texto_222"/>
          <p:cNvSpPr txBox="1"/>
          <p:nvPr/>
        </p:nvSpPr>
        <p:spPr>
          <a:xfrm>
            <a:off x="457200" y="2743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3"/>
                </a:solidFill>
              </a:rPr>
              <a:t>PASO 4 · PSEUDOCÓDIGO</a:t>
            </a:r>
            <a:endParaRPr lang="en-US" sz="1100" dirty="0"/>
          </a:p>
        </p:txBody>
      </p:sp>
      <p:sp>
        <p:nvSpPr>
          <p:cNvPr id="4" name="tarjeta_223"/>
          <p:cNvSpPr/>
          <p:nvPr/>
        </p:nvSpPr>
        <p:spPr>
          <a:xfrm>
            <a:off x="457200" y="1371600"/>
            <a:ext cx="4297680" cy="3200400"/>
          </a:xfrm>
          <a:prstGeom prst="roundRect">
            <a:avLst>
              <a:gd name="adj" fmla="val 2286"/>
            </a:avLst>
          </a:prstGeom>
          <a:solidFill>
            <a:schemeClr val="tx1"/>
          </a:solidFill>
          <a:ln/>
        </p:spPr>
      </p:sp>
      <p:sp>
        <p:nvSpPr>
          <p:cNvPr id="5" name="texto_224"/>
          <p:cNvSpPr txBox="1"/>
          <p:nvPr/>
        </p:nvSpPr>
        <p:spPr>
          <a:xfrm>
            <a:off x="640080" y="1508760"/>
            <a:ext cx="40233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FUNCION dni_valido(dni)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SI longitud(dni) &lt;&gt; 8 ENTONCES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RETORNAR FALSO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PARA cada caracter c de dni HACER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SI c no es digito ENTONCES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RETORNAR FALSO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RETORNAR VERDADERO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 FUNCION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FUNCION buscar_posicion(lista, codigo)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PARA i DESDE 0 HASTA longitud(lista)-1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SI lista[i].codigo = codigo ENTONCES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RETORNAR i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RETORNAR -1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 FUNCION</a:t>
            </a:r>
            <a:endParaRPr lang="en-US" sz="1100" dirty="0"/>
          </a:p>
        </p:txBody>
      </p:sp>
      <p:sp>
        <p:nvSpPr>
          <p:cNvPr id="6" name="tarjeta_225"/>
          <p:cNvSpPr/>
          <p:nvPr/>
        </p:nvSpPr>
        <p:spPr>
          <a:xfrm>
            <a:off x="4937760" y="1371600"/>
            <a:ext cx="3749040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</p:sp>
      <p:sp>
        <p:nvSpPr>
          <p:cNvPr id="7" name="circulo_226"/>
          <p:cNvSpPr/>
          <p:nvPr/>
        </p:nvSpPr>
        <p:spPr>
          <a:xfrm>
            <a:off x="5029200" y="1508760"/>
            <a:ext cx="457200" cy="457200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8" name="icono_227" descr="icono decorativ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48072" y="1627632"/>
            <a:ext cx="219456" cy="219456"/>
          </a:xfrm>
          <a:prstGeom prst="rect">
            <a:avLst/>
          </a:prstGeom>
        </p:spPr>
      </p:pic>
      <p:sp>
        <p:nvSpPr>
          <p:cNvPr id="9" name="texto_228"/>
          <p:cNvSpPr txBox="1"/>
          <p:nvPr/>
        </p:nvSpPr>
        <p:spPr>
          <a:xfrm>
            <a:off x="5623560" y="141732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Funciones: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Cada tarea tiene la suya: registrar, validar, buscar, ordenar y guardar.</a:t>
            </a:r>
            <a:endParaRPr lang="en-US" sz="1300" dirty="0"/>
          </a:p>
        </p:txBody>
      </p:sp>
      <p:sp>
        <p:nvSpPr>
          <p:cNvPr id="10" name="tarjeta_229"/>
          <p:cNvSpPr/>
          <p:nvPr/>
        </p:nvSpPr>
        <p:spPr>
          <a:xfrm>
            <a:off x="4937760" y="2194560"/>
            <a:ext cx="3749040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</p:sp>
      <p:sp>
        <p:nvSpPr>
          <p:cNvPr id="11" name="circulo_230"/>
          <p:cNvSpPr/>
          <p:nvPr/>
        </p:nvSpPr>
        <p:spPr>
          <a:xfrm>
            <a:off x="5029200" y="2331720"/>
            <a:ext cx="457200" cy="457200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12" name="icono_231" descr="icono decorativ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8072" y="2450592"/>
            <a:ext cx="219456" cy="219456"/>
          </a:xfrm>
          <a:prstGeom prst="rect">
            <a:avLst/>
          </a:prstGeom>
        </p:spPr>
      </p:pic>
      <p:sp>
        <p:nvSpPr>
          <p:cNvPr id="13" name="texto_232"/>
          <p:cNvSpPr txBox="1"/>
          <p:nvPr/>
        </p:nvSpPr>
        <p:spPr>
          <a:xfrm>
            <a:off x="5623560" y="224028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Listas: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La lista guarda todos los expedientes y se recorre con un índice.</a:t>
            </a:r>
            <a:endParaRPr lang="en-US" sz="1300" dirty="0"/>
          </a:p>
        </p:txBody>
      </p:sp>
      <p:sp>
        <p:nvSpPr>
          <p:cNvPr id="14" name="tarjeta_233"/>
          <p:cNvSpPr/>
          <p:nvPr/>
        </p:nvSpPr>
        <p:spPr>
          <a:xfrm>
            <a:off x="4937760" y="3017520"/>
            <a:ext cx="3749040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</p:sp>
      <p:sp>
        <p:nvSpPr>
          <p:cNvPr id="15" name="circulo_234"/>
          <p:cNvSpPr/>
          <p:nvPr/>
        </p:nvSpPr>
        <p:spPr>
          <a:xfrm>
            <a:off x="5029200" y="3154680"/>
            <a:ext cx="457200" cy="457200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16" name="icono_235" descr="icono decorativo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8072" y="3273552"/>
            <a:ext cx="219456" cy="219456"/>
          </a:xfrm>
          <a:prstGeom prst="rect">
            <a:avLst/>
          </a:prstGeom>
        </p:spPr>
      </p:pic>
      <p:sp>
        <p:nvSpPr>
          <p:cNvPr id="17" name="texto_236"/>
          <p:cNvSpPr txBox="1"/>
          <p:nvPr/>
        </p:nvSpPr>
        <p:spPr>
          <a:xfrm>
            <a:off x="5623560" y="30632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Cadenas: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Se revisa el DNI carácter por carácter y se separa cada línea por «|».</a:t>
            </a:r>
            <a:endParaRPr lang="en-US" sz="1300" dirty="0"/>
          </a:p>
        </p:txBody>
      </p:sp>
      <p:sp>
        <p:nvSpPr>
          <p:cNvPr id="18" name="tarjeta_237"/>
          <p:cNvSpPr/>
          <p:nvPr/>
        </p:nvSpPr>
        <p:spPr>
          <a:xfrm>
            <a:off x="4937760" y="3840480"/>
            <a:ext cx="3749040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</p:sp>
      <p:sp>
        <p:nvSpPr>
          <p:cNvPr id="19" name="circulo_238"/>
          <p:cNvSpPr/>
          <p:nvPr/>
        </p:nvSpPr>
        <p:spPr>
          <a:xfrm>
            <a:off x="5029200" y="3977640"/>
            <a:ext cx="457200" cy="457200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20" name="icono_239" descr="icono decorativo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8072" y="4096512"/>
            <a:ext cx="219456" cy="219456"/>
          </a:xfrm>
          <a:prstGeom prst="rect">
            <a:avLst/>
          </a:prstGeom>
        </p:spPr>
      </p:pic>
      <p:sp>
        <p:nvSpPr>
          <p:cNvPr id="21" name="texto_240"/>
          <p:cNvSpPr txBox="1"/>
          <p:nvPr/>
        </p:nvSpPr>
        <p:spPr>
          <a:xfrm>
            <a:off x="5623560" y="388620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Archivos: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Una línea por expediente: se guarda al salir y se carga al abrir.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5029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Dividimos el programa en módulos</a:t>
            </a:r>
            <a:endParaRPr lang="en-US" sz="3000" dirty="0"/>
          </a:p>
        </p:txBody>
      </p:sp>
      <p:sp>
        <p:nvSpPr>
          <p:cNvPr id="3" name="texto_241"/>
          <p:cNvSpPr txBox="1"/>
          <p:nvPr/>
        </p:nvSpPr>
        <p:spPr>
          <a:xfrm>
            <a:off x="457200" y="2743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3"/>
                </a:solidFill>
              </a:rPr>
              <a:t>PASO 4 · ORGANIZACIÓN DEL CÓDIGO</a:t>
            </a:r>
            <a:endParaRPr lang="en-US" sz="1100" dirty="0"/>
          </a:p>
        </p:txBody>
      </p:sp>
      <p:sp>
        <p:nvSpPr>
          <p:cNvPr id="4" name="tarjeta_242"/>
          <p:cNvSpPr/>
          <p:nvPr/>
        </p:nvSpPr>
        <p:spPr>
          <a:xfrm>
            <a:off x="457200" y="1371600"/>
            <a:ext cx="1920240" cy="237744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/>
        </p:spPr>
      </p:sp>
      <p:sp>
        <p:nvSpPr>
          <p:cNvPr id="5" name="circulo_243"/>
          <p:cNvSpPr/>
          <p:nvPr/>
        </p:nvSpPr>
        <p:spPr>
          <a:xfrm>
            <a:off x="640080" y="1508760"/>
            <a:ext cx="502920" cy="502920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6" name="icono_244" descr="icono decorativ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0839" y="1639519"/>
            <a:ext cx="241402" cy="241402"/>
          </a:xfrm>
          <a:prstGeom prst="rect">
            <a:avLst/>
          </a:prstGeom>
        </p:spPr>
      </p:pic>
      <p:sp>
        <p:nvSpPr>
          <p:cNvPr id="7" name="texto_245"/>
          <p:cNvSpPr txBox="1"/>
          <p:nvPr/>
        </p:nvSpPr>
        <p:spPr>
          <a:xfrm>
            <a:off x="640080" y="21488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main.py</a:t>
            </a:r>
            <a:endParaRPr lang="en-US" sz="1400" dirty="0"/>
          </a:p>
        </p:txBody>
      </p:sp>
      <p:sp>
        <p:nvSpPr>
          <p:cNvPr id="8" name="texto_246"/>
          <p:cNvSpPr txBox="1"/>
          <p:nvPr/>
        </p:nvSpPr>
        <p:spPr>
          <a:xfrm>
            <a:off x="640080" y="246888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Muestra el menú y llama a las demás partes.</a:t>
            </a:r>
            <a:endParaRPr lang="en-US" sz="1300" dirty="0"/>
          </a:p>
        </p:txBody>
      </p:sp>
      <p:sp>
        <p:nvSpPr>
          <p:cNvPr id="9" name="texto_247"/>
          <p:cNvSpPr txBox="1"/>
          <p:nvPr/>
        </p:nvSpPr>
        <p:spPr>
          <a:xfrm>
            <a:off x="640080" y="320040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tx2"/>
                </a:solidFill>
              </a:rPr>
              <a:t>registrar, listar, principal</a:t>
            </a:r>
            <a:endParaRPr lang="en-US" sz="1200" dirty="0"/>
          </a:p>
        </p:txBody>
      </p:sp>
      <p:sp>
        <p:nvSpPr>
          <p:cNvPr id="10" name="tarjeta_248"/>
          <p:cNvSpPr/>
          <p:nvPr/>
        </p:nvSpPr>
        <p:spPr>
          <a:xfrm>
            <a:off x="2560320" y="1371600"/>
            <a:ext cx="1920240" cy="237744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/>
        </p:spPr>
      </p:sp>
      <p:sp>
        <p:nvSpPr>
          <p:cNvPr id="11" name="circulo_249"/>
          <p:cNvSpPr/>
          <p:nvPr/>
        </p:nvSpPr>
        <p:spPr>
          <a:xfrm>
            <a:off x="2743200" y="150876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2" name="icono_250" descr="icono decorativ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3959" y="1639519"/>
            <a:ext cx="241402" cy="241402"/>
          </a:xfrm>
          <a:prstGeom prst="rect">
            <a:avLst/>
          </a:prstGeom>
        </p:spPr>
      </p:pic>
      <p:sp>
        <p:nvSpPr>
          <p:cNvPr id="13" name="texto_251"/>
          <p:cNvSpPr txBox="1"/>
          <p:nvPr/>
        </p:nvSpPr>
        <p:spPr>
          <a:xfrm>
            <a:off x="2743200" y="21488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validaciones.py</a:t>
            </a:r>
            <a:endParaRPr lang="en-US" sz="1400" dirty="0"/>
          </a:p>
        </p:txBody>
      </p:sp>
      <p:sp>
        <p:nvSpPr>
          <p:cNvPr id="14" name="texto_252"/>
          <p:cNvSpPr txBox="1"/>
          <p:nvPr/>
        </p:nvSpPr>
        <p:spPr>
          <a:xfrm>
            <a:off x="2743200" y="246888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Revisa los datos antes de guardarlos.</a:t>
            </a:r>
            <a:endParaRPr lang="en-US" sz="1300" dirty="0"/>
          </a:p>
        </p:txBody>
      </p:sp>
      <p:sp>
        <p:nvSpPr>
          <p:cNvPr id="15" name="texto_253"/>
          <p:cNvSpPr txBox="1"/>
          <p:nvPr/>
        </p:nvSpPr>
        <p:spPr>
          <a:xfrm>
            <a:off x="2743200" y="320040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tx2"/>
                </a:solidFill>
              </a:rPr>
              <a:t>dni_valido, codigo_valido</a:t>
            </a:r>
            <a:endParaRPr lang="en-US" sz="1200" dirty="0"/>
          </a:p>
        </p:txBody>
      </p:sp>
      <p:sp>
        <p:nvSpPr>
          <p:cNvPr id="16" name="tarjeta_254"/>
          <p:cNvSpPr/>
          <p:nvPr/>
        </p:nvSpPr>
        <p:spPr>
          <a:xfrm>
            <a:off x="4663440" y="1371600"/>
            <a:ext cx="1920240" cy="237744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/>
        </p:spPr>
      </p:sp>
      <p:sp>
        <p:nvSpPr>
          <p:cNvPr id="17" name="circulo_255"/>
          <p:cNvSpPr/>
          <p:nvPr/>
        </p:nvSpPr>
        <p:spPr>
          <a:xfrm>
            <a:off x="4846320" y="1508760"/>
            <a:ext cx="502920" cy="502920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18" name="icono_256" descr="icono decorativo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7079" y="1639519"/>
            <a:ext cx="241402" cy="241402"/>
          </a:xfrm>
          <a:prstGeom prst="rect">
            <a:avLst/>
          </a:prstGeom>
        </p:spPr>
      </p:pic>
      <p:sp>
        <p:nvSpPr>
          <p:cNvPr id="19" name="texto_257"/>
          <p:cNvSpPr txBox="1"/>
          <p:nvPr/>
        </p:nvSpPr>
        <p:spPr>
          <a:xfrm>
            <a:off x="4846320" y="21488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almacenamiento.py</a:t>
            </a:r>
            <a:endParaRPr lang="en-US" sz="1400" dirty="0"/>
          </a:p>
        </p:txBody>
      </p:sp>
      <p:sp>
        <p:nvSpPr>
          <p:cNvPr id="20" name="texto_258"/>
          <p:cNvSpPr txBox="1"/>
          <p:nvPr/>
        </p:nvSpPr>
        <p:spPr>
          <a:xfrm>
            <a:off x="4846320" y="246888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Lee y escribe el archivo de datos.</a:t>
            </a:r>
            <a:endParaRPr lang="en-US" sz="1300" dirty="0"/>
          </a:p>
        </p:txBody>
      </p:sp>
      <p:sp>
        <p:nvSpPr>
          <p:cNvPr id="21" name="texto_259"/>
          <p:cNvSpPr txBox="1"/>
          <p:nvPr/>
        </p:nvSpPr>
        <p:spPr>
          <a:xfrm>
            <a:off x="4846320" y="320040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tx2"/>
                </a:solidFill>
              </a:rPr>
              <a:t>guardar, cargar</a:t>
            </a:r>
            <a:endParaRPr lang="en-US" sz="1200" dirty="0"/>
          </a:p>
        </p:txBody>
      </p:sp>
      <p:sp>
        <p:nvSpPr>
          <p:cNvPr id="22" name="tarjeta_260"/>
          <p:cNvSpPr/>
          <p:nvPr/>
        </p:nvSpPr>
        <p:spPr>
          <a:xfrm>
            <a:off x="6766560" y="1371600"/>
            <a:ext cx="1920240" cy="237744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/>
        </p:spPr>
      </p:sp>
      <p:sp>
        <p:nvSpPr>
          <p:cNvPr id="23" name="circulo_261"/>
          <p:cNvSpPr/>
          <p:nvPr/>
        </p:nvSpPr>
        <p:spPr>
          <a:xfrm>
            <a:off x="6949440" y="150876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4" name="icono_262" descr="icono decorativo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0199" y="1639519"/>
            <a:ext cx="241402" cy="241402"/>
          </a:xfrm>
          <a:prstGeom prst="rect">
            <a:avLst/>
          </a:prstGeom>
        </p:spPr>
      </p:pic>
      <p:sp>
        <p:nvSpPr>
          <p:cNvPr id="25" name="texto_263"/>
          <p:cNvSpPr txBox="1"/>
          <p:nvPr/>
        </p:nvSpPr>
        <p:spPr>
          <a:xfrm>
            <a:off x="6949440" y="21488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busqueda_orden.py</a:t>
            </a:r>
            <a:endParaRPr lang="en-US" sz="1400" dirty="0"/>
          </a:p>
        </p:txBody>
      </p:sp>
      <p:sp>
        <p:nvSpPr>
          <p:cNvPr id="26" name="texto_264"/>
          <p:cNvSpPr txBox="1"/>
          <p:nvPr/>
        </p:nvSpPr>
        <p:spPr>
          <a:xfrm>
            <a:off x="6949440" y="246888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Busca un expediente y ordena la lista.</a:t>
            </a:r>
            <a:endParaRPr lang="en-US" sz="1300" dirty="0"/>
          </a:p>
        </p:txBody>
      </p:sp>
      <p:sp>
        <p:nvSpPr>
          <p:cNvPr id="27" name="texto_265"/>
          <p:cNvSpPr txBox="1"/>
          <p:nvPr/>
        </p:nvSpPr>
        <p:spPr>
          <a:xfrm>
            <a:off x="6949440" y="320040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tx2"/>
                </a:solidFill>
              </a:rPr>
              <a:t>buscar_posicion, ordenar</a:t>
            </a:r>
            <a:endParaRPr lang="en-US" sz="1200" dirty="0"/>
          </a:p>
        </p:txBody>
      </p:sp>
      <p:sp>
        <p:nvSpPr>
          <p:cNvPr id="28" name="texto_266"/>
          <p:cNvSpPr txBox="1"/>
          <p:nvPr/>
        </p:nvSpPr>
        <p:spPr>
          <a:xfrm>
            <a:off x="457200" y="38404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Ideas que aplicamos</a:t>
            </a:r>
            <a:endParaRPr lang="en-US" sz="1400" dirty="0"/>
          </a:p>
        </p:txBody>
      </p:sp>
      <p:sp>
        <p:nvSpPr>
          <p:cNvPr id="29" name="tarjeta_267"/>
          <p:cNvSpPr/>
          <p:nvPr/>
        </p:nvSpPr>
        <p:spPr>
          <a:xfrm>
            <a:off x="457200" y="4114800"/>
            <a:ext cx="1920240" cy="457200"/>
          </a:xfrm>
          <a:prstGeom prst="roundRect">
            <a:avLst>
              <a:gd name="adj" fmla="val 16000"/>
            </a:avLst>
          </a:prstGeom>
          <a:solidFill>
            <a:schemeClr val="accent1"/>
          </a:solidFill>
          <a:ln/>
        </p:spPr>
      </p:sp>
      <p:sp>
        <p:nvSpPr>
          <p:cNvPr id="30" name="texto_268"/>
          <p:cNvSpPr txBox="1"/>
          <p:nvPr/>
        </p:nvSpPr>
        <p:spPr>
          <a:xfrm>
            <a:off x="457200" y="41148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Lógica: Y, O, NO</a:t>
            </a:r>
            <a:endParaRPr lang="en-US" sz="1200" dirty="0"/>
          </a:p>
        </p:txBody>
      </p:sp>
      <p:sp>
        <p:nvSpPr>
          <p:cNvPr id="31" name="tarjeta_269"/>
          <p:cNvSpPr/>
          <p:nvPr/>
        </p:nvSpPr>
        <p:spPr>
          <a:xfrm>
            <a:off x="2560320" y="4114800"/>
            <a:ext cx="1920240" cy="457200"/>
          </a:xfrm>
          <a:prstGeom prst="roundRect">
            <a:avLst>
              <a:gd name="adj" fmla="val 16000"/>
            </a:avLst>
          </a:prstGeom>
          <a:solidFill>
            <a:schemeClr val="accent1"/>
          </a:solidFill>
          <a:ln/>
        </p:spPr>
      </p:sp>
      <p:sp>
        <p:nvSpPr>
          <p:cNvPr id="32" name="texto_270"/>
          <p:cNvSpPr txBox="1"/>
          <p:nvPr/>
        </p:nvSpPr>
        <p:spPr>
          <a:xfrm>
            <a:off x="2560320" y="41148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Orden por comparación</a:t>
            </a:r>
            <a:endParaRPr lang="en-US" sz="1200" dirty="0"/>
          </a:p>
        </p:txBody>
      </p:sp>
      <p:sp>
        <p:nvSpPr>
          <p:cNvPr id="33" name="tarjeta_271"/>
          <p:cNvSpPr/>
          <p:nvPr/>
        </p:nvSpPr>
        <p:spPr>
          <a:xfrm>
            <a:off x="4663440" y="4114800"/>
            <a:ext cx="1920240" cy="457200"/>
          </a:xfrm>
          <a:prstGeom prst="roundRect">
            <a:avLst>
              <a:gd name="adj" fmla="val 16000"/>
            </a:avLst>
          </a:prstGeom>
          <a:solidFill>
            <a:schemeClr val="accent1"/>
          </a:solidFill>
          <a:ln/>
        </p:spPr>
      </p:sp>
      <p:sp>
        <p:nvSpPr>
          <p:cNvPr id="34" name="texto_272"/>
          <p:cNvSpPr txBox="1"/>
          <p:nvPr/>
        </p:nvSpPr>
        <p:spPr>
          <a:xfrm>
            <a:off x="4663440" y="41148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Búsqueda lineal e inserción</a:t>
            </a:r>
            <a:endParaRPr lang="en-US" sz="1200" dirty="0"/>
          </a:p>
        </p:txBody>
      </p:sp>
      <p:sp>
        <p:nvSpPr>
          <p:cNvPr id="35" name="tarjeta_273"/>
          <p:cNvSpPr/>
          <p:nvPr/>
        </p:nvSpPr>
        <p:spPr>
          <a:xfrm>
            <a:off x="6766560" y="4114800"/>
            <a:ext cx="1920240" cy="457200"/>
          </a:xfrm>
          <a:prstGeom prst="roundRect">
            <a:avLst>
              <a:gd name="adj" fmla="val 16000"/>
            </a:avLst>
          </a:prstGeom>
          <a:solidFill>
            <a:schemeClr val="accent1"/>
          </a:solidFill>
          <a:ln/>
        </p:spPr>
      </p:sp>
      <p:sp>
        <p:nvSpPr>
          <p:cNvPr id="36" name="texto_274"/>
          <p:cNvSpPr txBox="1"/>
          <p:nvPr/>
        </p:nvSpPr>
        <p:spPr>
          <a:xfrm>
            <a:off x="6766560" y="41148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Reutilizar funciones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5029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Trabajamos en equipo con Git y GitHub</a:t>
            </a:r>
            <a:endParaRPr lang="en-US" sz="3000" dirty="0"/>
          </a:p>
        </p:txBody>
      </p:sp>
      <p:sp>
        <p:nvSpPr>
          <p:cNvPr id="3" name="texto_275"/>
          <p:cNvSpPr txBox="1"/>
          <p:nvPr/>
        </p:nvSpPr>
        <p:spPr>
          <a:xfrm>
            <a:off x="457200" y="2743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3"/>
                </a:solidFill>
              </a:rPr>
              <a:t>PASO 5 · IMPLEMENTACIÓN VERSIONADA</a:t>
            </a:r>
            <a:endParaRPr lang="en-US" sz="1100" dirty="0"/>
          </a:p>
        </p:txBody>
      </p:sp>
      <p:sp>
        <p:nvSpPr>
          <p:cNvPr id="4" name="tarjeta_276"/>
          <p:cNvSpPr/>
          <p:nvPr/>
        </p:nvSpPr>
        <p:spPr>
          <a:xfrm>
            <a:off x="457200" y="1371600"/>
            <a:ext cx="3931920" cy="2697480"/>
          </a:xfrm>
          <a:prstGeom prst="roundRect">
            <a:avLst>
              <a:gd name="adj" fmla="val 2712"/>
            </a:avLst>
          </a:prstGeom>
          <a:solidFill>
            <a:schemeClr val="bg2"/>
          </a:solidFill>
          <a:ln/>
        </p:spPr>
      </p:sp>
      <p:sp>
        <p:nvSpPr>
          <p:cNvPr id="5" name="circulo_277"/>
          <p:cNvSpPr/>
          <p:nvPr/>
        </p:nvSpPr>
        <p:spPr>
          <a:xfrm>
            <a:off x="640080" y="1508760"/>
            <a:ext cx="457200" cy="45720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6" name="icono_278" descr="icono decorativ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" y="1627632"/>
            <a:ext cx="219456" cy="219456"/>
          </a:xfrm>
          <a:prstGeom prst="rect">
            <a:avLst/>
          </a:prstGeom>
        </p:spPr>
      </p:pic>
      <p:sp>
        <p:nvSpPr>
          <p:cNvPr id="7" name="texto_279"/>
          <p:cNvSpPr txBox="1"/>
          <p:nvPr/>
        </p:nvSpPr>
        <p:spPr>
          <a:xfrm>
            <a:off x="1234440" y="15087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Una rama por integrante</a:t>
            </a:r>
            <a:endParaRPr lang="en-US" sz="1600" dirty="0"/>
          </a:p>
        </p:txBody>
      </p:sp>
      <p:sp>
        <p:nvSpPr>
          <p:cNvPr id="8" name="texto_280"/>
          <p:cNvSpPr txBox="1"/>
          <p:nvPr/>
        </p:nvSpPr>
        <p:spPr>
          <a:xfrm>
            <a:off x="685800" y="2103120"/>
            <a:ext cx="35661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00"/>
              </a:lnSpc>
              <a:buNone/>
            </a:pPr>
            <a:r>
              <a:rPr lang="en-US" sz="1400" b="1" dirty="0">
                <a:solidFill>
                  <a:schemeClr val="tx1"/>
                </a:solidFill>
              </a:rPr>
              <a:t>main: versión estable</a:t>
            </a:r>
            <a:endParaRPr lang="en-US" sz="1400" dirty="0"/>
          </a:p>
          <a:p>
            <a:pPr indent="0" marL="0">
              <a:lnSpc>
                <a:spcPts val="23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T1-Cruz-Cruces</a:t>
            </a:r>
            <a:endParaRPr lang="en-US" sz="1400" dirty="0"/>
          </a:p>
          <a:p>
            <a:pPr indent="0" marL="0">
              <a:lnSpc>
                <a:spcPts val="23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T1-Mazuelos-Valqui</a:t>
            </a:r>
            <a:endParaRPr lang="en-US" sz="1400" dirty="0"/>
          </a:p>
          <a:p>
            <a:pPr indent="0" marL="0">
              <a:lnSpc>
                <a:spcPts val="23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T1-Astete-Llancare</a:t>
            </a:r>
            <a:endParaRPr lang="en-US" sz="1400" dirty="0"/>
          </a:p>
          <a:p>
            <a:pPr indent="0" marL="0">
              <a:lnSpc>
                <a:spcPts val="23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T1-Acosta-Guillen</a:t>
            </a:r>
            <a:endParaRPr lang="en-US" sz="1400" dirty="0"/>
          </a:p>
          <a:p>
            <a:pPr indent="0" marL="0">
              <a:lnSpc>
                <a:spcPts val="23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T1-Olivares-Martinez</a:t>
            </a:r>
            <a:endParaRPr lang="en-US" sz="1400" dirty="0"/>
          </a:p>
        </p:txBody>
      </p:sp>
      <p:sp>
        <p:nvSpPr>
          <p:cNvPr id="9" name="tarjeta_281"/>
          <p:cNvSpPr/>
          <p:nvPr/>
        </p:nvSpPr>
        <p:spPr>
          <a:xfrm>
            <a:off x="4663440" y="1371600"/>
            <a:ext cx="4023360" cy="594360"/>
          </a:xfrm>
          <a:prstGeom prst="roundRect">
            <a:avLst>
              <a:gd name="adj" fmla="val 12308"/>
            </a:avLst>
          </a:prstGeom>
          <a:solidFill>
            <a:schemeClr val="bg2"/>
          </a:solidFill>
          <a:ln/>
        </p:spPr>
      </p:sp>
      <p:sp>
        <p:nvSpPr>
          <p:cNvPr id="10" name="circulo_282"/>
          <p:cNvSpPr/>
          <p:nvPr/>
        </p:nvSpPr>
        <p:spPr>
          <a:xfrm>
            <a:off x="4773168" y="146304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1" name="texto_283"/>
          <p:cNvSpPr txBox="1"/>
          <p:nvPr/>
        </p:nvSpPr>
        <p:spPr>
          <a:xfrm>
            <a:off x="4773168" y="1463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1</a:t>
            </a:r>
            <a:endParaRPr lang="en-US" sz="1600" dirty="0"/>
          </a:p>
        </p:txBody>
      </p:sp>
      <p:sp>
        <p:nvSpPr>
          <p:cNvPr id="12" name="texto_284"/>
          <p:cNvSpPr txBox="1"/>
          <p:nvPr/>
        </p:nvSpPr>
        <p:spPr>
          <a:xfrm>
            <a:off x="5321808" y="137160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Traer lo último de main</a:t>
            </a:r>
            <a:endParaRPr lang="en-US" sz="1400" dirty="0"/>
          </a:p>
        </p:txBody>
      </p:sp>
      <p:sp>
        <p:nvSpPr>
          <p:cNvPr id="13" name="tarjeta_285"/>
          <p:cNvSpPr/>
          <p:nvPr/>
        </p:nvSpPr>
        <p:spPr>
          <a:xfrm>
            <a:off x="4663440" y="2057400"/>
            <a:ext cx="4023360" cy="594360"/>
          </a:xfrm>
          <a:prstGeom prst="roundRect">
            <a:avLst>
              <a:gd name="adj" fmla="val 12308"/>
            </a:avLst>
          </a:prstGeom>
          <a:solidFill>
            <a:schemeClr val="bg2"/>
          </a:solidFill>
          <a:ln/>
        </p:spPr>
      </p:sp>
      <p:sp>
        <p:nvSpPr>
          <p:cNvPr id="14" name="circulo_286"/>
          <p:cNvSpPr/>
          <p:nvPr/>
        </p:nvSpPr>
        <p:spPr>
          <a:xfrm>
            <a:off x="4773168" y="214884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texto_287"/>
          <p:cNvSpPr txBox="1"/>
          <p:nvPr/>
        </p:nvSpPr>
        <p:spPr>
          <a:xfrm>
            <a:off x="4773168" y="21488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2</a:t>
            </a:r>
            <a:endParaRPr lang="en-US" sz="1600" dirty="0"/>
          </a:p>
        </p:txBody>
      </p:sp>
      <p:sp>
        <p:nvSpPr>
          <p:cNvPr id="16" name="texto_288"/>
          <p:cNvSpPr txBox="1"/>
          <p:nvPr/>
        </p:nvSpPr>
        <p:spPr>
          <a:xfrm>
            <a:off x="5321808" y="205740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Trabajar en mi rama con commits pequeños y claros</a:t>
            </a:r>
            <a:endParaRPr lang="en-US" sz="1400" dirty="0"/>
          </a:p>
        </p:txBody>
      </p:sp>
      <p:sp>
        <p:nvSpPr>
          <p:cNvPr id="17" name="tarjeta_289"/>
          <p:cNvSpPr/>
          <p:nvPr/>
        </p:nvSpPr>
        <p:spPr>
          <a:xfrm>
            <a:off x="4663440" y="2743200"/>
            <a:ext cx="4023360" cy="594360"/>
          </a:xfrm>
          <a:prstGeom prst="roundRect">
            <a:avLst>
              <a:gd name="adj" fmla="val 12308"/>
            </a:avLst>
          </a:prstGeom>
          <a:solidFill>
            <a:schemeClr val="bg2"/>
          </a:solidFill>
          <a:ln/>
        </p:spPr>
      </p:sp>
      <p:sp>
        <p:nvSpPr>
          <p:cNvPr id="18" name="circulo_290"/>
          <p:cNvSpPr/>
          <p:nvPr/>
        </p:nvSpPr>
        <p:spPr>
          <a:xfrm>
            <a:off x="4773168" y="283464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9" name="texto_291"/>
          <p:cNvSpPr txBox="1"/>
          <p:nvPr/>
        </p:nvSpPr>
        <p:spPr>
          <a:xfrm>
            <a:off x="4773168" y="28346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3</a:t>
            </a:r>
            <a:endParaRPr lang="en-US" sz="1600" dirty="0"/>
          </a:p>
        </p:txBody>
      </p:sp>
      <p:sp>
        <p:nvSpPr>
          <p:cNvPr id="20" name="texto_292"/>
          <p:cNvSpPr txBox="1"/>
          <p:nvPr/>
        </p:nvSpPr>
        <p:spPr>
          <a:xfrm>
            <a:off x="5321808" y="274320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Subir la rama a GitHub (push)</a:t>
            </a:r>
            <a:endParaRPr lang="en-US" sz="1400" dirty="0"/>
          </a:p>
        </p:txBody>
      </p:sp>
      <p:sp>
        <p:nvSpPr>
          <p:cNvPr id="21" name="tarjeta_293"/>
          <p:cNvSpPr/>
          <p:nvPr/>
        </p:nvSpPr>
        <p:spPr>
          <a:xfrm>
            <a:off x="4663440" y="3429000"/>
            <a:ext cx="4023360" cy="594360"/>
          </a:xfrm>
          <a:prstGeom prst="roundRect">
            <a:avLst>
              <a:gd name="adj" fmla="val 12308"/>
            </a:avLst>
          </a:prstGeom>
          <a:solidFill>
            <a:schemeClr val="bg2"/>
          </a:solidFill>
          <a:ln/>
        </p:spPr>
      </p:sp>
      <p:sp>
        <p:nvSpPr>
          <p:cNvPr id="22" name="circulo_294"/>
          <p:cNvSpPr/>
          <p:nvPr/>
        </p:nvSpPr>
        <p:spPr>
          <a:xfrm>
            <a:off x="4773168" y="352044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3" name="texto_295"/>
          <p:cNvSpPr txBox="1"/>
          <p:nvPr/>
        </p:nvSpPr>
        <p:spPr>
          <a:xfrm>
            <a:off x="4773168" y="35204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4</a:t>
            </a:r>
            <a:endParaRPr lang="en-US" sz="1600" dirty="0"/>
          </a:p>
        </p:txBody>
      </p:sp>
      <p:sp>
        <p:nvSpPr>
          <p:cNvPr id="24" name="texto_296"/>
          <p:cNvSpPr txBox="1"/>
          <p:nvPr/>
        </p:nvSpPr>
        <p:spPr>
          <a:xfrm>
            <a:off x="5321808" y="342900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Abrir un pull request que otro compañero revisa</a:t>
            </a:r>
            <a:endParaRPr lang="en-US" sz="1400" dirty="0"/>
          </a:p>
        </p:txBody>
      </p:sp>
      <p:sp>
        <p:nvSpPr>
          <p:cNvPr id="25" name="tarjeta_297"/>
          <p:cNvSpPr/>
          <p:nvPr/>
        </p:nvSpPr>
        <p:spPr>
          <a:xfrm>
            <a:off x="457200" y="4206240"/>
            <a:ext cx="8229600" cy="411480"/>
          </a:xfrm>
          <a:prstGeom prst="roundRect">
            <a:avLst>
              <a:gd name="adj" fmla="val 17778"/>
            </a:avLst>
          </a:prstGeom>
          <a:solidFill>
            <a:schemeClr val="bg2"/>
          </a:solidFill>
          <a:ln/>
        </p:spPr>
      </p:sp>
      <p:sp>
        <p:nvSpPr>
          <p:cNvPr id="26" name="texto_298"/>
          <p:cNvSpPr txBox="1"/>
          <p:nvPr/>
        </p:nvSpPr>
        <p:spPr>
          <a:xfrm>
            <a:off x="640080" y="420624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Si hay conflicto: elegimos qué versión queda, borramos las marcas de Git y hacemos otro commit.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5029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Probamos con datos ficticios</a:t>
            </a:r>
            <a:endParaRPr lang="en-US" sz="3000" dirty="0"/>
          </a:p>
        </p:txBody>
      </p:sp>
      <p:sp>
        <p:nvSpPr>
          <p:cNvPr id="3" name="texto_299"/>
          <p:cNvSpPr txBox="1"/>
          <p:nvPr/>
        </p:nvSpPr>
        <p:spPr>
          <a:xfrm>
            <a:off x="457200" y="2743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3"/>
                </a:solidFill>
              </a:rPr>
              <a:t>PASO 6 · PLAN DE PRUEBAS</a:t>
            </a:r>
            <a:endParaRPr lang="en-US" sz="11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822960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1554480"/>
                <a:gridCol w="2377440"/>
                <a:gridCol w="2286000"/>
                <a:gridCol w="155448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N.°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Qué probamos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Datos de entrada (ficticios)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Resultado esperado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Resultado obtenido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Registro correcto</a:t>
                      </a:r>
                      <a:endParaRPr lang="en-US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E-000001-2026, Ana Prueba, 12345678</a:t>
                      </a:r>
                      <a:endParaRPr lang="en-US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Registro exitoso, estado «Pendiente»</a:t>
                      </a:r>
                      <a:endParaRPr lang="en-US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accent5"/>
                          </a:solidFill>
                        </a:rPr>
                        <a:t>Por completar</a:t>
                      </a:r>
                      <a:endParaRPr lang="en-US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Campo vacío</a:t>
                      </a:r>
                      <a:endParaRPr lang="en-US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Nombre en blanco</a:t>
                      </a:r>
                      <a:endParaRPr lang="en-US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Error y pide los datos otra vez</a:t>
                      </a:r>
                      <a:endParaRPr lang="en-US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accent5"/>
                          </a:solidFill>
                        </a:rPr>
                        <a:t>Por completar</a:t>
                      </a:r>
                      <a:endParaRPr lang="en-US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DNI con letras</a:t>
                      </a:r>
                      <a:endParaRPr lang="en-US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12A45678</a:t>
                      </a:r>
                      <a:endParaRPr lang="en-US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Error de DNI</a:t>
                      </a:r>
                      <a:endParaRPr lang="en-US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accent5"/>
                          </a:solidFill>
                        </a:rPr>
                        <a:t>Por completar</a:t>
                      </a:r>
                      <a:endParaRPr lang="en-US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Código repetido</a:t>
                      </a:r>
                      <a:endParaRPr lang="en-US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E-000001-2026 dos veces</a:t>
                      </a:r>
                      <a:endParaRPr lang="en-US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Error: el código ya existe</a:t>
                      </a:r>
                      <a:endParaRPr lang="en-US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accent5"/>
                          </a:solidFill>
                        </a:rPr>
                        <a:t>Por completar</a:t>
                      </a:r>
                      <a:endParaRPr lang="en-US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Buscar un código</a:t>
                      </a:r>
                      <a:endParaRPr lang="en-US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E-000001-2026</a:t>
                      </a:r>
                      <a:endParaRPr lang="en-US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Muestra el expediente</a:t>
                      </a:r>
                      <a:endParaRPr lang="en-US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accent5"/>
                          </a:solidFill>
                        </a:rPr>
                        <a:t>Por completar</a:t>
                      </a:r>
                      <a:endParaRPr lang="en-US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en-US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Ordenar por fecha</a:t>
                      </a:r>
                      <a:endParaRPr lang="en-US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28/09, 12/10 y 05/10 de 2026</a:t>
                      </a:r>
                      <a:endParaRPr lang="en-US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Orden: 28/09, 05/10, 12/10</a:t>
                      </a:r>
                      <a:endParaRPr lang="en-US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accent5"/>
                          </a:solidFill>
                        </a:rPr>
                        <a:t>Por completar</a:t>
                      </a:r>
                      <a:endParaRPr lang="en-US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en-US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Guardar y reabrir</a:t>
                      </a:r>
                      <a:endParaRPr lang="en-US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Registrar, guardar y abrir de nuevo</a:t>
                      </a:r>
                      <a:endParaRPr lang="en-US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Los expedientes siguen ahí</a:t>
                      </a:r>
                      <a:endParaRPr lang="en-US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accent5"/>
                          </a:solidFill>
                        </a:rPr>
                        <a:t>Por completar</a:t>
                      </a:r>
                      <a:endParaRPr lang="en-US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o_300"/>
          <p:cNvSpPr txBox="1"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tx2"/>
                </a:solidFill>
              </a:rPr>
              <a:t>Errores que anticipamos: fechas ordenadas como texto, DNI que empieza con 0 y archivo que aún no existe.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5029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Qué aprendimos</a:t>
            </a:r>
            <a:endParaRPr lang="en-US" sz="3000" dirty="0"/>
          </a:p>
        </p:txBody>
      </p:sp>
      <p:sp>
        <p:nvSpPr>
          <p:cNvPr id="3" name="texto_301"/>
          <p:cNvSpPr txBox="1"/>
          <p:nvPr/>
        </p:nvSpPr>
        <p:spPr>
          <a:xfrm>
            <a:off x="457200" y="2743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3"/>
                </a:solidFill>
              </a:rPr>
              <a:t>PASO 6 · REFLEXIÓN TÉCNICA Y ÉTICA</a:t>
            </a:r>
            <a:endParaRPr lang="en-US" sz="1100" dirty="0"/>
          </a:p>
        </p:txBody>
      </p:sp>
      <p:sp>
        <p:nvSpPr>
          <p:cNvPr id="4" name="tarjeta_302"/>
          <p:cNvSpPr/>
          <p:nvPr/>
        </p:nvSpPr>
        <p:spPr>
          <a:xfrm>
            <a:off x="457200" y="1371600"/>
            <a:ext cx="3931920" cy="3200400"/>
          </a:xfrm>
          <a:prstGeom prst="roundRect">
            <a:avLst>
              <a:gd name="adj" fmla="val 2286"/>
            </a:avLst>
          </a:prstGeom>
          <a:solidFill>
            <a:schemeClr val="bg2"/>
          </a:solidFill>
          <a:ln/>
        </p:spPr>
      </p:sp>
      <p:sp>
        <p:nvSpPr>
          <p:cNvPr id="5" name="circulo_303"/>
          <p:cNvSpPr/>
          <p:nvPr/>
        </p:nvSpPr>
        <p:spPr>
          <a:xfrm>
            <a:off x="640080" y="1508760"/>
            <a:ext cx="502920" cy="502920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6" name="icono_304" descr="icono decorativ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0839" y="1639519"/>
            <a:ext cx="241402" cy="241402"/>
          </a:xfrm>
          <a:prstGeom prst="rect">
            <a:avLst/>
          </a:prstGeom>
        </p:spPr>
      </p:pic>
      <p:sp>
        <p:nvSpPr>
          <p:cNvPr id="7" name="texto_305"/>
          <p:cNvSpPr txBox="1"/>
          <p:nvPr/>
        </p:nvSpPr>
        <p:spPr>
          <a:xfrm>
            <a:off x="1280160" y="150876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Reflexión técnica</a:t>
            </a:r>
            <a:endParaRPr lang="en-US" sz="1800" dirty="0"/>
          </a:p>
        </p:txBody>
      </p:sp>
      <p:sp>
        <p:nvSpPr>
          <p:cNvPr id="8" name="texto_306"/>
          <p:cNvSpPr txBox="1"/>
          <p:nvPr/>
        </p:nvSpPr>
        <p:spPr>
          <a:xfrm>
            <a:off x="685800" y="2240280"/>
            <a:ext cx="352044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Primero se entiende el problema y después se programa</a:t>
            </a:r>
            <a:endParaRPr lang="en-US" sz="14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Las validaciones son una cadena de preguntas</a:t>
            </a:r>
            <a:endParaRPr lang="en-US" sz="14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Los módulos ayudan a repartir y probar el trabajo</a:t>
            </a:r>
            <a:endParaRPr lang="en-US" sz="14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Es un prototipo: no es el sistema oficial</a:t>
            </a:r>
            <a:endParaRPr lang="en-US" sz="1400" dirty="0"/>
          </a:p>
        </p:txBody>
      </p:sp>
      <p:sp>
        <p:nvSpPr>
          <p:cNvPr id="9" name="tarjeta_307"/>
          <p:cNvSpPr/>
          <p:nvPr/>
        </p:nvSpPr>
        <p:spPr>
          <a:xfrm>
            <a:off x="4754880" y="1371600"/>
            <a:ext cx="3931920" cy="3200400"/>
          </a:xfrm>
          <a:prstGeom prst="roundRect">
            <a:avLst>
              <a:gd name="adj" fmla="val 2286"/>
            </a:avLst>
          </a:prstGeom>
          <a:solidFill>
            <a:schemeClr val="bg2"/>
          </a:solidFill>
          <a:ln/>
        </p:spPr>
      </p:sp>
      <p:sp>
        <p:nvSpPr>
          <p:cNvPr id="10" name="circulo_308"/>
          <p:cNvSpPr/>
          <p:nvPr/>
        </p:nvSpPr>
        <p:spPr>
          <a:xfrm>
            <a:off x="4937760" y="1508760"/>
            <a:ext cx="502920" cy="50292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1" name="icono_309" descr="icono decorativ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8519" y="1639519"/>
            <a:ext cx="241402" cy="241402"/>
          </a:xfrm>
          <a:prstGeom prst="rect">
            <a:avLst/>
          </a:prstGeom>
        </p:spPr>
      </p:pic>
      <p:sp>
        <p:nvSpPr>
          <p:cNvPr id="12" name="texto_310"/>
          <p:cNvSpPr txBox="1"/>
          <p:nvPr/>
        </p:nvSpPr>
        <p:spPr>
          <a:xfrm>
            <a:off x="5577840" y="150876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Reflexión ética</a:t>
            </a:r>
            <a:endParaRPr lang="en-US" sz="1800" dirty="0"/>
          </a:p>
        </p:txBody>
      </p:sp>
      <p:sp>
        <p:nvSpPr>
          <p:cNvPr id="13" name="texto_311"/>
          <p:cNvSpPr txBox="1"/>
          <p:nvPr/>
        </p:nvSpPr>
        <p:spPr>
          <a:xfrm>
            <a:off x="4983480" y="2240280"/>
            <a:ext cx="352044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Las capturas tienen datos reales: se ocultan (Ley N.° 29733)</a:t>
            </a:r>
            <a:endParaRPr lang="en-US" sz="14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Las pruebas usan solo datos ficticios</a:t>
            </a:r>
            <a:endParaRPr lang="en-US" sz="14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Solo afirmamos lo que vimos en las capturas</a:t>
            </a:r>
            <a:endParaRPr lang="en-US" sz="14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Perder un expediente deja a alguien sin respuesta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5029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Recomendaciones y conocimiento nuevo</a:t>
            </a:r>
            <a:endParaRPr lang="en-US" sz="3000" dirty="0"/>
          </a:p>
        </p:txBody>
      </p:sp>
      <p:sp>
        <p:nvSpPr>
          <p:cNvPr id="3" name="texto_312"/>
          <p:cNvSpPr txBox="1"/>
          <p:nvPr/>
        </p:nvSpPr>
        <p:spPr>
          <a:xfrm>
            <a:off x="457200" y="2743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3"/>
                </a:solidFill>
              </a:rPr>
              <a:t>MIRANDO HACIA ADELANTE</a:t>
            </a:r>
            <a:endParaRPr lang="en-US" sz="1100" dirty="0"/>
          </a:p>
        </p:txBody>
      </p:sp>
      <p:sp>
        <p:nvSpPr>
          <p:cNvPr id="4" name="tarjeta_313"/>
          <p:cNvSpPr/>
          <p:nvPr/>
        </p:nvSpPr>
        <p:spPr>
          <a:xfrm>
            <a:off x="457200" y="1371600"/>
            <a:ext cx="3657600" cy="3200400"/>
          </a:xfrm>
          <a:prstGeom prst="roundRect">
            <a:avLst>
              <a:gd name="adj" fmla="val 2286"/>
            </a:avLst>
          </a:prstGeom>
          <a:solidFill>
            <a:schemeClr val="bg2"/>
          </a:solidFill>
          <a:ln/>
        </p:spPr>
      </p:sp>
      <p:sp>
        <p:nvSpPr>
          <p:cNvPr id="5" name="circulo_314"/>
          <p:cNvSpPr/>
          <p:nvPr/>
        </p:nvSpPr>
        <p:spPr>
          <a:xfrm>
            <a:off x="640080" y="150876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6" name="icono_315" descr="icono decorativ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" y="1627632"/>
            <a:ext cx="219456" cy="219456"/>
          </a:xfrm>
          <a:prstGeom prst="rect">
            <a:avLst/>
          </a:prstGeom>
        </p:spPr>
      </p:pic>
      <p:sp>
        <p:nvSpPr>
          <p:cNvPr id="7" name="texto_316"/>
          <p:cNvSpPr txBox="1"/>
          <p:nvPr/>
        </p:nvSpPr>
        <p:spPr>
          <a:xfrm>
            <a:off x="1234440" y="15087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Recomendaciones</a:t>
            </a:r>
            <a:endParaRPr lang="en-US" sz="1800" dirty="0"/>
          </a:p>
        </p:txBody>
      </p:sp>
      <p:sp>
        <p:nvSpPr>
          <p:cNvPr id="8" name="texto_317"/>
          <p:cNvSpPr txBox="1"/>
          <p:nvPr/>
        </p:nvSpPr>
        <p:spPr>
          <a:xfrm>
            <a:off x="640080" y="2194560"/>
            <a:ext cx="32918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Probar siempre con datos ficticios</a:t>
            </a:r>
            <a:endParaRPr lang="en-US" sz="14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Commits pequeños y pull requests revisados</a:t>
            </a:r>
            <a:endParaRPr lang="en-US" sz="14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Con muchos datos: búsqueda binaria o base de datos</a:t>
            </a:r>
            <a:endParaRPr lang="en-US" sz="14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Mejora: cambiar el estado y guardar un historial, como la hoja de ruta</a:t>
            </a:r>
            <a:endParaRPr lang="en-US" sz="1400" dirty="0"/>
          </a:p>
        </p:txBody>
      </p:sp>
      <p:sp>
        <p:nvSpPr>
          <p:cNvPr id="9" name="tarjeta_318"/>
          <p:cNvSpPr/>
          <p:nvPr/>
        </p:nvSpPr>
        <p:spPr>
          <a:xfrm>
            <a:off x="4343400" y="1371600"/>
            <a:ext cx="4343400" cy="3200400"/>
          </a:xfrm>
          <a:prstGeom prst="roundRect">
            <a:avLst>
              <a:gd name="adj" fmla="val 2286"/>
            </a:avLst>
          </a:prstGeom>
          <a:solidFill>
            <a:schemeClr val="bg2"/>
          </a:solidFill>
          <a:ln/>
        </p:spPr>
      </p:sp>
      <p:sp>
        <p:nvSpPr>
          <p:cNvPr id="10" name="circulo_319"/>
          <p:cNvSpPr/>
          <p:nvPr/>
        </p:nvSpPr>
        <p:spPr>
          <a:xfrm>
            <a:off x="4526280" y="1508760"/>
            <a:ext cx="457200" cy="457200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11" name="icono_320" descr="icono decorativ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5152" y="1627632"/>
            <a:ext cx="219456" cy="219456"/>
          </a:xfrm>
          <a:prstGeom prst="rect">
            <a:avLst/>
          </a:prstGeom>
        </p:spPr>
      </p:pic>
      <p:sp>
        <p:nvSpPr>
          <p:cNvPr id="12" name="texto_321"/>
          <p:cNvSpPr txBox="1"/>
          <p:nvPr/>
        </p:nvSpPr>
        <p:spPr>
          <a:xfrm>
            <a:off x="5120640" y="15087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Conocimiento nuevo que usamos</a:t>
            </a:r>
            <a:endParaRPr lang="en-US" sz="1800" dirty="0"/>
          </a:p>
        </p:txBody>
      </p:sp>
      <p:sp>
        <p:nvSpPr>
          <p:cNvPr id="13" name="texto_322"/>
          <p:cNvSpPr txBox="1"/>
          <p:nvPr/>
        </p:nvSpPr>
        <p:spPr>
          <a:xfrm>
            <a:off x="4526280" y="2194560"/>
            <a:ext cx="39776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Ley N.° 31170: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qué debe poder hacer una mesa de partes.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Ley N.° 29733: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cuidar los datos personales.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Expediente, proveído, hoja de ruta: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campos y estados del prototipo.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Git: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ramas, pull requests y conflictos.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Fechas año-mes-día: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para ordenar sin errores.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5029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Conclusiones</a:t>
            </a:r>
            <a:endParaRPr lang="en-US" sz="3000" dirty="0"/>
          </a:p>
        </p:txBody>
      </p:sp>
      <p:sp>
        <p:nvSpPr>
          <p:cNvPr id="3" name="texto_323"/>
          <p:cNvSpPr txBox="1"/>
          <p:nvPr/>
        </p:nvSpPr>
        <p:spPr>
          <a:xfrm>
            <a:off x="457200" y="1371600"/>
            <a:ext cx="56692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Seguimos un trámite real: se envió, recibió número y fue derivado.</a:t>
            </a:r>
            <a:endParaRPr lang="en-US" sz="16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Los datos clave son código, persona, asunto, fecha y estado.</a:t>
            </a:r>
            <a:endParaRPr lang="en-US" sz="16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Elegimos lista y archivo de texto porque la podemos hacer y explicar.</a:t>
            </a:r>
            <a:endParaRPr lang="en-US" sz="16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El diseño con diagramas, pseudocódigo y módulos deja listo el camino para programar y probar.</a:t>
            </a:r>
            <a:endParaRPr lang="en-US" sz="16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Trabajar con datos reales exige cuidado: probamos solo con datos ficticios.</a:t>
            </a:r>
            <a:endParaRPr lang="en-US" sz="1600" dirty="0"/>
          </a:p>
        </p:txBody>
      </p:sp>
      <p:sp>
        <p:nvSpPr>
          <p:cNvPr id="4" name="circulo_324"/>
          <p:cNvSpPr/>
          <p:nvPr/>
        </p:nvSpPr>
        <p:spPr>
          <a:xfrm>
            <a:off x="6629400" y="1645920"/>
            <a:ext cx="1920240" cy="19202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cono_325" descr="icono decorativ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0" y="2057400"/>
            <a:ext cx="731520" cy="731520"/>
          </a:xfrm>
          <a:prstGeom prst="rect">
            <a:avLst/>
          </a:prstGeom>
        </p:spPr>
      </p:pic>
      <p:sp>
        <p:nvSpPr>
          <p:cNvPr id="6" name="texto_326"/>
          <p:cNvSpPr txBox="1"/>
          <p:nvPr/>
        </p:nvSpPr>
        <p:spPr>
          <a:xfrm>
            <a:off x="6400800" y="37490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¿Preguntas?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7955279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E1A437"/>
                </a:solidFill>
                <a:latin typeface="Aptos"/>
              </a:defRPr>
            </a:pPr>
            <a:r>
              <a:t>COMPLEMENTO 1 · OBJETIVOS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66928"/>
            <a:ext cx="7955279" cy="5303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400"/>
              </a:spcAft>
              <a:defRPr sz="2500" b="1">
                <a:solidFill>
                  <a:srgbClr val="192A42"/>
                </a:solidFill>
                <a:latin typeface="Aptos"/>
              </a:defRPr>
            </a:pPr>
            <a:r>
              <a:t>¿Qué queremos lograr?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115568"/>
            <a:ext cx="7900416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5F6C7C"/>
                </a:solidFill>
                <a:latin typeface="Aptos"/>
              </a:defRPr>
            </a:pPr>
            <a:r>
              <a:t>Objetivos que orientan el diseño del prototipo de Mesa de Partes Digital.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37360"/>
            <a:ext cx="53492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1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67512" y="1847088"/>
            <a:ext cx="64008" cy="1197864"/>
          </a:xfrm>
          <a:prstGeom prst="rect">
            <a:avLst/>
          </a:prstGeom>
          <a:solidFill>
            <a:srgbClr val="E1A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1865376"/>
            <a:ext cx="4983479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192A42"/>
                </a:solidFill>
                <a:latin typeface="Aptos"/>
              </a:defRPr>
            </a:pPr>
            <a:r>
              <a:t>Objetivo general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240280"/>
            <a:ext cx="4983479" cy="8503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400"/>
              </a:spcAft>
              <a:defRPr sz="1300" b="0">
                <a:solidFill>
                  <a:srgbClr val="2A3442"/>
                </a:solidFill>
                <a:latin typeface="Aptos"/>
              </a:defRPr>
            </a:pPr>
            <a:r>
              <a:t>Diseñar un prototipo que registre, valide, busque, ordene y guarde expedientes.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737360"/>
            <a:ext cx="53035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1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45352" y="1847088"/>
            <a:ext cx="64008" cy="1197864"/>
          </a:xfrm>
          <a:prstGeom prst="rect">
            <a:avLst/>
          </a:prstGeom>
          <a:solidFill>
            <a:srgbClr val="2B99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19088" y="1865376"/>
            <a:ext cx="4937759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192A42"/>
                </a:solidFill>
                <a:latin typeface="Aptos"/>
              </a:defRPr>
            </a:pPr>
            <a:r>
              <a:t>Objetivo específico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9088" y="2240280"/>
            <a:ext cx="4937759" cy="8503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400"/>
              </a:spcAft>
              <a:defRPr sz="1300" b="0">
                <a:solidFill>
                  <a:srgbClr val="2A3442"/>
                </a:solidFill>
                <a:latin typeface="Aptos"/>
              </a:defRPr>
            </a:pPr>
            <a:r>
              <a:t>Validar campos completos, DNI de 8 dígitos y códigos que no estén repetidos.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429000"/>
            <a:ext cx="53492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1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67512" y="3538728"/>
            <a:ext cx="64008" cy="1197864"/>
          </a:xfrm>
          <a:prstGeom prst="rect">
            <a:avLst/>
          </a:prstGeom>
          <a:solidFill>
            <a:srgbClr val="2B99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7" y="3557016"/>
            <a:ext cx="4983479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192A42"/>
                </a:solidFill>
                <a:latin typeface="Aptos"/>
              </a:defRPr>
            </a:pPr>
            <a:r>
              <a:t>Objetivo específico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7" y="3931920"/>
            <a:ext cx="4983479" cy="8503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400"/>
              </a:spcAft>
              <a:defRPr sz="1300" b="0">
                <a:solidFill>
                  <a:srgbClr val="2A3442"/>
                </a:solidFill>
                <a:latin typeface="Aptos"/>
              </a:defRPr>
            </a:pPr>
            <a:r>
              <a:t>Facilitar consultas mediante búsqueda por código y listados ordenados por fecha o código.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3429000"/>
            <a:ext cx="53035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1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45352" y="3538728"/>
            <a:ext cx="64008" cy="1197864"/>
          </a:xfrm>
          <a:prstGeom prst="rect">
            <a:avLst/>
          </a:prstGeom>
          <a:solidFill>
            <a:srgbClr val="E1A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19088" y="3557016"/>
            <a:ext cx="4937759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192A42"/>
                </a:solidFill>
                <a:latin typeface="Aptos"/>
              </a:defRPr>
            </a:pPr>
            <a:r>
              <a:t>Objetivo específico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9088" y="3931920"/>
            <a:ext cx="4937759" cy="8503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400"/>
              </a:spcAft>
              <a:defRPr sz="1300" b="0">
                <a:solidFill>
                  <a:srgbClr val="2A3442"/>
                </a:solidFill>
                <a:latin typeface="Aptos"/>
              </a:defRPr>
            </a:pPr>
            <a:r>
              <a:t>Guardar registros en un archivo de texto y cargarlos al abrir el programa.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303520"/>
            <a:ext cx="1078992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5F6C7C"/>
                </a:solidFill>
                <a:latin typeface="Aptos"/>
              </a:defRPr>
            </a:pPr>
            <a:r>
              <a:t>Alcance: es un prototipo académico; no reemplaza el sistema oficial de una municipalidad.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7955279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E1A437"/>
                </a:solidFill>
                <a:latin typeface="Aptos"/>
              </a:defRPr>
            </a:pPr>
            <a:r>
              <a:t>COMPLEMENTO 2 · EJEMPLO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66928"/>
            <a:ext cx="7955279" cy="5303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400"/>
              </a:spcAft>
              <a:defRPr sz="2500" b="1">
                <a:solidFill>
                  <a:srgbClr val="192A42"/>
                </a:solidFill>
                <a:latin typeface="Aptos"/>
              </a:defRPr>
            </a:pPr>
            <a:r>
              <a:t>Así se vería un expediente registrado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115568"/>
            <a:ext cx="7900416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5F6C7C"/>
                </a:solidFill>
                <a:latin typeface="Aptos"/>
              </a:defRPr>
            </a:pPr>
            <a:r>
              <a:t>Ejemplo ficticio para explicar el proceso sin exponer datos personales reales.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91640"/>
            <a:ext cx="457200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E1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20240"/>
            <a:ext cx="402336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E1A437"/>
                </a:solidFill>
                <a:latin typeface="Aptos"/>
              </a:defRPr>
            </a:pPr>
            <a:r>
              <a:t>EXPEDIENTE DE PRUEBA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331720"/>
            <a:ext cx="402336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400"/>
              </a:spcAft>
              <a:defRPr sz="2400" b="1">
                <a:solidFill>
                  <a:srgbClr val="192A42"/>
                </a:solidFill>
                <a:latin typeface="Aptos"/>
              </a:defRPr>
            </a:pPr>
            <a:r>
              <a:t>E-000001-2026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971800"/>
            <a:ext cx="4023360" cy="19202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2A3442"/>
                </a:solidFill>
                <a:latin typeface="Aptos"/>
              </a:defRPr>
            </a:pPr>
            <a:r>
              <a:t>Solicitante: Ana Prueba</a:t>
            </a:r>
          </a:p>
          <a:p>
            <a:pPr>
              <a:spcAft>
                <a:spcPts val="400"/>
              </a:spcAft>
              <a:defRPr sz="1400" b="0">
                <a:solidFill>
                  <a:srgbClr val="2A3442"/>
                </a:solidFill>
                <a:latin typeface="Aptos"/>
              </a:defRPr>
            </a:pPr>
            <a:r>
              <a:t>DNI: 12345678</a:t>
            </a:r>
          </a:p>
          <a:p>
            <a:pPr>
              <a:spcAft>
                <a:spcPts val="400"/>
              </a:spcAft>
              <a:defRPr sz="1400" b="0">
                <a:solidFill>
                  <a:srgbClr val="2A3442"/>
                </a:solidFill>
                <a:latin typeface="Aptos"/>
              </a:defRPr>
            </a:pPr>
            <a:r>
              <a:t>Asunto: Solicitud de limpieza</a:t>
            </a:r>
          </a:p>
          <a:p>
            <a:pPr>
              <a:spcAft>
                <a:spcPts val="400"/>
              </a:spcAft>
              <a:defRPr sz="1400" b="0">
                <a:solidFill>
                  <a:srgbClr val="2A3442"/>
                </a:solidFill>
                <a:latin typeface="Aptos"/>
              </a:defRPr>
            </a:pPr>
            <a:r>
              <a:t>Fecha: 19/10/2026</a:t>
            </a:r>
          </a:p>
          <a:p>
            <a:pPr>
              <a:spcAft>
                <a:spcPts val="400"/>
              </a:spcAft>
              <a:defRPr sz="1400" b="0">
                <a:solidFill>
                  <a:srgbClr val="2A3442"/>
                </a:solidFill>
                <a:latin typeface="Aptos"/>
              </a:defRPr>
            </a:pPr>
            <a:r>
              <a:t>Estado: PENDIENTE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23560" y="1737360"/>
            <a:ext cx="54864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1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50992" y="1847088"/>
            <a:ext cx="64008" cy="740664"/>
          </a:xfrm>
          <a:prstGeom prst="rect">
            <a:avLst/>
          </a:prstGeom>
          <a:solidFill>
            <a:srgbClr val="E1A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24728" y="1865376"/>
            <a:ext cx="512064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192A42"/>
                </a:solidFill>
                <a:latin typeface="Aptos"/>
              </a:defRPr>
            </a:pPr>
            <a:r>
              <a:t>1. Registrar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24728" y="2240280"/>
            <a:ext cx="5120640" cy="3931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400"/>
              </a:spcAft>
              <a:defRPr sz="1200" b="0">
                <a:solidFill>
                  <a:srgbClr val="2A3442"/>
                </a:solidFill>
                <a:latin typeface="Aptos"/>
              </a:defRPr>
            </a:pPr>
            <a:r>
              <a:t>Ingresar los datos del expediente.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23560" y="2880360"/>
            <a:ext cx="54864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1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50992" y="2990088"/>
            <a:ext cx="64008" cy="740664"/>
          </a:xfrm>
          <a:prstGeom prst="rect">
            <a:avLst/>
          </a:prstGeom>
          <a:solidFill>
            <a:srgbClr val="2B99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24728" y="3008376"/>
            <a:ext cx="512064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192A42"/>
                </a:solidFill>
                <a:latin typeface="Aptos"/>
              </a:defRPr>
            </a:pPr>
            <a:r>
              <a:t>2. Validar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24728" y="3383280"/>
            <a:ext cx="5120640" cy="3931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400"/>
              </a:spcAft>
              <a:defRPr sz="1200" b="0">
                <a:solidFill>
                  <a:srgbClr val="2A3442"/>
                </a:solidFill>
                <a:latin typeface="Aptos"/>
              </a:defRPr>
            </a:pPr>
            <a:r>
              <a:t>Comprobar campos, DNI y código único.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23560" y="4023360"/>
            <a:ext cx="54864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1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650992" y="4133088"/>
            <a:ext cx="64008" cy="740664"/>
          </a:xfrm>
          <a:prstGeom prst="rect">
            <a:avLst/>
          </a:prstGeom>
          <a:solidFill>
            <a:srgbClr val="E1A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824728" y="4151376"/>
            <a:ext cx="512064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192A42"/>
                </a:solidFill>
                <a:latin typeface="Aptos"/>
              </a:defRPr>
            </a:pPr>
            <a:r>
              <a:t>3. Guardar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24728" y="4526280"/>
            <a:ext cx="5120640" cy="3931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400"/>
              </a:spcAft>
              <a:defRPr sz="1200" b="0">
                <a:solidFill>
                  <a:srgbClr val="2A3442"/>
                </a:solidFill>
                <a:latin typeface="Aptos"/>
              </a:defRPr>
            </a:pPr>
            <a:r>
              <a:t>Si los datos son correctos, se agrega a la lista con estado «Pendiente».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577840"/>
            <a:ext cx="105156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5F6C7C"/>
                </a:solidFill>
                <a:latin typeface="Aptos"/>
              </a:defRPr>
            </a:pPr>
            <a:r>
              <a:t>Los datos mostrados son ficticios y no representan un expediente real.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7955279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E1A437"/>
                </a:solidFill>
                <a:latin typeface="Aptos"/>
              </a:defRPr>
            </a:pPr>
            <a:r>
              <a:t>COMPLEMENTO 3 · ALCANCE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66928"/>
            <a:ext cx="7955279" cy="5303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400"/>
              </a:spcAft>
              <a:defRPr sz="2500" b="1">
                <a:solidFill>
                  <a:srgbClr val="192A42"/>
                </a:solidFill>
                <a:latin typeface="Aptos"/>
              </a:defRPr>
            </a:pPr>
            <a:r>
              <a:t>Qué aporta el prototipo y qué falta desarrollar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115568"/>
            <a:ext cx="7900416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5F6C7C"/>
                </a:solidFill>
                <a:latin typeface="Aptos"/>
              </a:defRPr>
            </a:pPr>
            <a:r>
              <a:t>Separar las funciones previstas de las mejoras que podrían añadirse después.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783080"/>
            <a:ext cx="5303520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E1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13232" y="1892807"/>
            <a:ext cx="64008" cy="3118104"/>
          </a:xfrm>
          <a:prstGeom prst="rect">
            <a:avLst/>
          </a:prstGeom>
          <a:solidFill>
            <a:srgbClr val="2B99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911095"/>
            <a:ext cx="4937759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192A42"/>
                </a:solidFill>
                <a:latin typeface="Aptos"/>
              </a:defRPr>
            </a:pPr>
            <a:r>
              <a:t>Funciones del prototipo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286000"/>
            <a:ext cx="4937759" cy="27706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400"/>
              </a:spcAft>
              <a:defRPr sz="1300" b="0">
                <a:solidFill>
                  <a:srgbClr val="2A3442"/>
                </a:solidFill>
                <a:latin typeface="Aptos"/>
              </a:defRPr>
            </a:pPr>
            <a:r>
              <a:t>• Registrar expedientes</a:t>
            </a:r>
          </a:p>
          <a:p>
            <a:pPr>
              <a:spcAft>
                <a:spcPts val="400"/>
              </a:spcAft>
              <a:defRPr sz="1300" b="0">
                <a:solidFill>
                  <a:srgbClr val="2A3442"/>
                </a:solidFill>
                <a:latin typeface="Aptos"/>
              </a:defRPr>
            </a:pPr>
            <a:r>
              <a:t>• Validar datos básicos</a:t>
            </a:r>
          </a:p>
          <a:p>
            <a:pPr>
              <a:spcAft>
                <a:spcPts val="400"/>
              </a:spcAft>
              <a:defRPr sz="1300" b="0">
                <a:solidFill>
                  <a:srgbClr val="2A3442"/>
                </a:solidFill>
                <a:latin typeface="Aptos"/>
              </a:defRPr>
            </a:pPr>
            <a:r>
              <a:t>• Buscar por código</a:t>
            </a:r>
          </a:p>
          <a:p>
            <a:pPr>
              <a:spcAft>
                <a:spcPts val="400"/>
              </a:spcAft>
              <a:defRPr sz="1300" b="0">
                <a:solidFill>
                  <a:srgbClr val="2A3442"/>
                </a:solidFill>
                <a:latin typeface="Aptos"/>
              </a:defRPr>
            </a:pPr>
            <a:r>
              <a:t>• Ordenar por código o fecha</a:t>
            </a:r>
          </a:p>
          <a:p>
            <a:pPr>
              <a:spcAft>
                <a:spcPts val="400"/>
              </a:spcAft>
              <a:defRPr sz="1300" b="0">
                <a:solidFill>
                  <a:srgbClr val="2A3442"/>
                </a:solidFill>
                <a:latin typeface="Aptos"/>
              </a:defRPr>
            </a:pPr>
            <a:r>
              <a:t>• Listar registros</a:t>
            </a:r>
          </a:p>
          <a:p>
            <a:pPr>
              <a:spcAft>
                <a:spcPts val="400"/>
              </a:spcAft>
              <a:defRPr sz="1300" b="0">
                <a:solidFill>
                  <a:srgbClr val="2A3442"/>
                </a:solidFill>
                <a:latin typeface="Aptos"/>
              </a:defRPr>
            </a:pPr>
            <a:r>
              <a:t>• Guardar y cargar un archivo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783080"/>
            <a:ext cx="5303520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E1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45352" y="1892807"/>
            <a:ext cx="64008" cy="3118104"/>
          </a:xfrm>
          <a:prstGeom prst="rect">
            <a:avLst/>
          </a:prstGeom>
          <a:solidFill>
            <a:srgbClr val="E1A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19088" y="1911095"/>
            <a:ext cx="4937759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192A42"/>
                </a:solidFill>
                <a:latin typeface="Aptos"/>
              </a:defRPr>
            </a:pPr>
            <a:r>
              <a:t>Mejoras futuras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9088" y="2286000"/>
            <a:ext cx="4937759" cy="27706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400"/>
              </a:spcAft>
              <a:defRPr sz="1300" b="0">
                <a:solidFill>
                  <a:srgbClr val="2A3442"/>
                </a:solidFill>
                <a:latin typeface="Aptos"/>
              </a:defRPr>
            </a:pPr>
            <a:r>
              <a:t>• Cambiar el estado y guardar un historial</a:t>
            </a:r>
          </a:p>
          <a:p>
            <a:pPr>
              <a:spcAft>
                <a:spcPts val="400"/>
              </a:spcAft>
              <a:defRPr sz="1300" b="0">
                <a:solidFill>
                  <a:srgbClr val="2A3442"/>
                </a:solidFill>
                <a:latin typeface="Aptos"/>
              </a:defRPr>
            </a:pPr>
            <a:r>
              <a:t>• Adjuntar documentos PDF</a:t>
            </a:r>
          </a:p>
          <a:p>
            <a:pPr>
              <a:spcAft>
                <a:spcPts val="400"/>
              </a:spcAft>
              <a:defRPr sz="1300" b="0">
                <a:solidFill>
                  <a:srgbClr val="2A3442"/>
                </a:solidFill>
                <a:latin typeface="Aptos"/>
              </a:defRPr>
            </a:pPr>
            <a:r>
              <a:t>• Derivar expedientes entre áreas</a:t>
            </a:r>
          </a:p>
          <a:p>
            <a:pPr>
              <a:spcAft>
                <a:spcPts val="400"/>
              </a:spcAft>
              <a:defRPr sz="1300" b="0">
                <a:solidFill>
                  <a:srgbClr val="2A3442"/>
                </a:solidFill>
                <a:latin typeface="Aptos"/>
              </a:defRPr>
            </a:pPr>
            <a:r>
              <a:t>• Enviar notificaciones electrónicas</a:t>
            </a:r>
          </a:p>
          <a:p>
            <a:pPr>
              <a:spcAft>
                <a:spcPts val="400"/>
              </a:spcAft>
              <a:defRPr sz="1300" b="0">
                <a:solidFill>
                  <a:srgbClr val="2A3442"/>
                </a:solidFill>
                <a:latin typeface="Aptos"/>
              </a:defRPr>
            </a:pPr>
            <a:r>
              <a:t>• Incorporar una base de datos si crece el volumen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440680"/>
            <a:ext cx="1060704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192A42"/>
                </a:solidFill>
                <a:latin typeface="Aptos"/>
              </a:defRPr>
            </a:pPr>
            <a:r>
              <a:t>Importante: las mejoras futuras no deben presentarse como funciones ya implementadas.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l archivador al algoritmo">
  <a:themeElements>
    <a:clrScheme name="Del archivador al algoritmo">
      <a:dk1>
        <a:srgbClr val="1B2A41"/>
      </a:dk1>
      <a:lt1>
        <a:srgbClr val="FFFFFF"/>
      </a:lt1>
      <a:dk2>
        <a:srgbClr val="3A4A5F"/>
      </a:dk2>
      <a:lt2>
        <a:srgbClr val="EEF2F6"/>
      </a:lt2>
      <a:accent1>
        <a:srgbClr val="E09F3E"/>
      </a:accent1>
      <a:accent2>
        <a:srgbClr val="2A9D8F"/>
      </a:accent2>
      <a:accent3>
        <a:srgbClr val="C8553D"/>
      </a:accent3>
      <a:accent4>
        <a:srgbClr val="5B7C99"/>
      </a:accent4>
      <a:accent5>
        <a:srgbClr val="7A8794"/>
      </a:accent5>
      <a:accent6>
        <a:srgbClr val="3D5A80"/>
      </a:accent6>
      <a:hlink>
        <a:srgbClr val="2A9D8F"/>
      </a:hlink>
      <a:folHlink>
        <a:srgbClr val="5B7C99"/>
      </a:folHlink>
    </a:clrScheme>
    <a:fontScheme name="Del archivador al algoritmo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Del archivador al algoritmo - Sustentación</dc:title>
  <dc:subject>PptxGenJS Presentation</dc:subject>
  <dc:creator>Grupo 07</dc:creator>
  <cp:lastModifiedBy>Grupo 07</cp:lastModifiedBy>
  <cp:revision>1</cp:revision>
  <dcterms:created xsi:type="dcterms:W3CDTF">2026-10-19T06:01:21Z</dcterms:created>
  <dcterms:modified xsi:type="dcterms:W3CDTF">2026-10-19T06:01:21Z</dcterms:modified>
</cp:coreProperties>
</file>